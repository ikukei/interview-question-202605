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0"/>
            <a:ext cx="2039112" cy="6858000"/>
          </a:xfrm>
          <a:prstGeom prst="rect">
            <a:avLst/>
          </a:prstGeom>
          <a:solidFill>
            <a:srgbClr val="9A72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45720" cy="173736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822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 Management Service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Design Document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5943600" cy="18288"/>
          </a:xfrm>
          <a:prstGeom prst="rect">
            <a:avLst/>
          </a:prstGeom>
          <a:solidFill>
            <a:srgbClr val="4A607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48716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8716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 &lt; 5ms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248716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48716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HA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889504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8950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Snapshot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97480" y="2889504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88950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Cross-Language SDK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62636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Technical Specification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Design Goals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5394960" cy="329184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22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Core Questions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1615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❓ Is it enabled?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12710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enabled / kill switch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76479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76479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👤 For whom?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18196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subject / region / subjectGroup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31343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31343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🏷️ Which release?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23682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releaseKey (set at flag creation)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86207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86207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📊 Rollout %?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2916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rolloutPercentage  0 – 100 %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804672"/>
            <a:ext cx="5852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804672"/>
            <a:ext cx="5852160" cy="32918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8229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Design Goals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44768" y="12252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⚡ High Throughput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11312" y="128930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P99 &lt; 5ms; hot path reads from in-memory cache only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17007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🛡️ High Availability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11312" y="1764792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Control plane failure does not affect data plane; SDK fallback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21762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📸 Consistent Snapshot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11312" y="2240280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Immutable Snapshot; deterministic behavior within a version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26517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🌐 Cross-Language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11312" y="271576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SHA-256 bucketing — Java / TS / Go results identical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31272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🔍 Explainability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11312" y="3191256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Every call returns reasonCode + matchedConditions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11612880" cy="329184"/>
          </a:xfrm>
          <a:prstGeom prst="rect">
            <a:avLst/>
          </a:prstGeom>
          <a:solidFill>
            <a:srgbClr val="F5EDDB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673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F10"/>
                </a:solidFill>
              </a:rPr>
              <a:t>Value: dynamic control without redeployment · gradual rollout reduces risk · instant rollback · A/B testing foundation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Result codes: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91640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7A8EA3"/>
          </a:solidFill>
          <a:ln/>
        </p:spPr>
      </p:sp>
      <p:sp>
        <p:nvSpPr>
          <p:cNvPr id="37" name="Text 35"/>
          <p:cNvSpPr/>
          <p:nvPr/>
        </p:nvSpPr>
        <p:spPr>
          <a:xfrm>
            <a:off x="1691640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FLAG_NOT_FOUND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721608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39" name="Text 37"/>
          <p:cNvSpPr/>
          <p:nvPr/>
        </p:nvSpPr>
        <p:spPr>
          <a:xfrm>
            <a:off x="3721608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FLAG_DISABLED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51576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41" name="Text 39"/>
          <p:cNvSpPr/>
          <p:nvPr/>
        </p:nvSpPr>
        <p:spPr>
          <a:xfrm>
            <a:off x="5751576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RULE_MATCH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81544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43" name="Text 41"/>
          <p:cNvSpPr/>
          <p:nvPr/>
        </p:nvSpPr>
        <p:spPr>
          <a:xfrm>
            <a:off x="7781544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ROLLOUT_NOT_INCLUDED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811512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7A8EA3"/>
          </a:solidFill>
          <a:ln/>
        </p:spPr>
      </p:sp>
      <p:sp>
        <p:nvSpPr>
          <p:cNvPr id="45" name="Text 43"/>
          <p:cNvSpPr/>
          <p:nvPr/>
        </p:nvSpPr>
        <p:spPr>
          <a:xfrm>
            <a:off x="9811512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DEFAULT_VALUE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74320" y="46634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Evaluation flow: flag exists? → enabled? → iterate rules (priority asc) → condition match? → bucket &lt; rollout% → enabled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" y="5029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Data model (6 tables):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ff_application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3192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7784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ff_flag_config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2376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ff_rule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86968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6968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ff_config_snapshot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51560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ff_change_event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Components Overview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3749040" cy="54864"/>
          </a:xfrm>
          <a:prstGeom prst="roundRect">
            <a:avLst/>
          </a:prstGeom>
          <a:solidFill>
            <a:srgbClr val="9A7230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9144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" y="124358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9A723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2435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Vue 3 + Vite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Console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flags / rules / snapshots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promotion &amp; approval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822960"/>
            <a:ext cx="3749040" cy="54864"/>
          </a:xfrm>
          <a:prstGeom prst="roundRect">
            <a:avLst/>
          </a:prstGeom>
          <a:solidFill>
            <a:srgbClr val="3A567A"/>
          </a:solidFill>
          <a:ln/>
        </p:spPr>
      </p:sp>
      <p:sp>
        <p:nvSpPr>
          <p:cNvPr id="13" name="Text 11"/>
          <p:cNvSpPr/>
          <p:nvPr/>
        </p:nvSpPr>
        <p:spPr>
          <a:xfrm>
            <a:off x="4379976" y="9144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9976" y="124358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3A567A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976" y="12435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9976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REST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engine / snapshot publish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log: ff_change_event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82296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822960"/>
            <a:ext cx="3749040" cy="54864"/>
          </a:xfrm>
          <a:prstGeom prst="roundRect">
            <a:avLst/>
          </a:prstGeom>
          <a:solidFill>
            <a:srgbClr val="3572A0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9144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frontend-sdk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57616" y="124358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3572A0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12435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TypeScript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57616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Node SDK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ETag conditional fetch / memory cache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Stale-if-Error degradation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88920"/>
            <a:ext cx="3749040" cy="54864"/>
          </a:xfrm>
          <a:prstGeom prst="roundRect">
            <a:avLst/>
          </a:prstGeom>
          <a:solidFill>
            <a:srgbClr val="3572A0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28803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java-sdk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2336" y="320954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3572A0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32095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Java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" y="3520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SDK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 in-memory cache / fallback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Cross-language consistent hashing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51960" y="278892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2788920"/>
            <a:ext cx="3749040" cy="54864"/>
          </a:xfrm>
          <a:prstGeom prst="roundRect">
            <a:avLst/>
          </a:prstGeom>
          <a:solidFill>
            <a:srgbClr val="7A8EA3"/>
          </a:solidFill>
          <a:ln/>
        </p:spPr>
      </p:sp>
      <p:sp>
        <p:nvSpPr>
          <p:cNvPr id="31" name="Text 29"/>
          <p:cNvSpPr/>
          <p:nvPr/>
        </p:nvSpPr>
        <p:spPr>
          <a:xfrm>
            <a:off x="4379976" y="28803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java-demo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79976" y="320954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7A8EA3"/>
          </a:solidFill>
          <a:ln/>
        </p:spPr>
      </p:sp>
      <p:sp>
        <p:nvSpPr>
          <p:cNvPr id="33" name="Text 31"/>
          <p:cNvSpPr/>
          <p:nvPr/>
        </p:nvSpPr>
        <p:spPr>
          <a:xfrm>
            <a:off x="4379976" y="32095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79976" y="3520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integration sample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java-sdk usage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278892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2788920"/>
            <a:ext cx="3749040" cy="54864"/>
          </a:xfrm>
          <a:prstGeom prst="roundRect">
            <a:avLst/>
          </a:prstGeom>
          <a:solidFill>
            <a:srgbClr val="7A8EA3"/>
          </a:solidFill>
          <a:ln/>
        </p:spPr>
      </p:sp>
      <p:sp>
        <p:nvSpPr>
          <p:cNvPr id="37" name="Text 35"/>
          <p:cNvSpPr/>
          <p:nvPr/>
        </p:nvSpPr>
        <p:spPr>
          <a:xfrm>
            <a:off x="8357616" y="28803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vue-demo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57616" y="320954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7A8EA3"/>
          </a:solidFill>
          <a:ln/>
        </p:spPr>
      </p:sp>
      <p:sp>
        <p:nvSpPr>
          <p:cNvPr id="39" name="Text 37"/>
          <p:cNvSpPr/>
          <p:nvPr/>
        </p:nvSpPr>
        <p:spPr>
          <a:xfrm>
            <a:off x="8357616" y="32095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Vue 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57616" y="3520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integration sample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frontend-sdk usage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8463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846320"/>
            <a:ext cx="3749040" cy="54864"/>
          </a:xfrm>
          <a:prstGeom prst="roundRect">
            <a:avLst/>
          </a:prstGeom>
          <a:solidFill>
            <a:srgbClr val="3A567A"/>
          </a:solidFill>
          <a:ln/>
        </p:spPr>
      </p:sp>
      <p:sp>
        <p:nvSpPr>
          <p:cNvPr id="43" name="Text 41"/>
          <p:cNvSpPr/>
          <p:nvPr/>
        </p:nvSpPr>
        <p:spPr>
          <a:xfrm>
            <a:off x="402336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F42"/>
                </a:solidFill>
              </a:rPr>
              <a:t>H2 / Oracle DB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2336" y="52486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6 tables: ff_flag / ff_flag_config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ff_rule / ff_config_snapshot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ff_application / ff_change_event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51960" y="48463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51960" y="4846320"/>
            <a:ext cx="3749040" cy="54864"/>
          </a:xfrm>
          <a:prstGeom prst="roundRect">
            <a:avLst/>
          </a:prstGeom>
          <a:solidFill>
            <a:srgbClr val="8A3D3D"/>
          </a:solidFill>
          <a:ln/>
        </p:spPr>
      </p:sp>
      <p:sp>
        <p:nvSpPr>
          <p:cNvPr id="47" name="Text 45"/>
          <p:cNvSpPr/>
          <p:nvPr/>
        </p:nvSpPr>
        <p:spPr>
          <a:xfrm>
            <a:off x="4379976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A1A"/>
                </a:solidFill>
              </a:rPr>
              <a:t>Redis Cluster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79976" y="52486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Distributed snapshot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TTL 5min · 3 primary + 3 replica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0" y="48463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4846320"/>
            <a:ext cx="3749040" cy="54864"/>
          </a:xfrm>
          <a:prstGeom prst="roundRect">
            <a:avLst/>
          </a:prstGeom>
          <a:solidFill>
            <a:srgbClr val="9A7230"/>
          </a:solidFill>
          <a:ln/>
        </p:spPr>
      </p:sp>
      <p:sp>
        <p:nvSpPr>
          <p:cNvPr id="51" name="Text 49"/>
          <p:cNvSpPr/>
          <p:nvPr/>
        </p:nvSpPr>
        <p:spPr>
          <a:xfrm>
            <a:off x="8357616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F10"/>
                </a:solidFill>
              </a:rPr>
              <a:t>CDN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57616" y="52486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 JSON static acceleration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ETag 60s · geo-nearest origin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Two-Plane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5394960" cy="5440680"/>
          </a:xfrm>
          <a:prstGeom prst="rect">
            <a:avLst/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F42"/>
                </a:solidFill>
              </a:rPr>
              <a:t>Control Plane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0" y="713232"/>
            <a:ext cx="5303520" cy="5440680"/>
          </a:xfrm>
          <a:prstGeom prst="rect">
            <a:avLst/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7498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5C"/>
                </a:solidFill>
              </a:rPr>
              <a:t>Data Plane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web-admin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SPA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24328" y="21762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5420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420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24328" y="35478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9136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136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Oracle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11704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1704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frontend-sdk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82328" y="21762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25420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5420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java-sdk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82328" y="35478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9136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9136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EvaluationEngine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SnapshotCache (JVM heap)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596128" y="2103120"/>
            <a:ext cx="1051560" cy="274320"/>
          </a:xfrm>
          <a:prstGeom prst="rightArrow">
            <a:avLst/>
          </a:prstGeom>
          <a:solidFill>
            <a:srgbClr val="9A7230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242316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Publish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Snapshot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96128" y="3383280"/>
            <a:ext cx="1051560" cy="274320"/>
          </a:xfrm>
          <a:prstGeom prst="rightArrow">
            <a:avLst/>
          </a:prstGeom>
          <a:solidFill>
            <a:srgbClr val="3572A0"/>
          </a:solidFill>
          <a:ln/>
        </p:spPr>
      </p:sp>
      <p:sp>
        <p:nvSpPr>
          <p:cNvPr id="28" name="Text 26"/>
          <p:cNvSpPr/>
          <p:nvPr/>
        </p:nvSpPr>
        <p:spPr>
          <a:xfrm>
            <a:off x="5513832" y="36941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D5C"/>
                </a:solidFill>
              </a:rPr>
              <a:t>GET Snapshot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D5C"/>
                </a:solidFill>
              </a:rPr>
              <a:t>HTTP / CDN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5257800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Create / update flags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Configure rules &amp; conditions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Environment promotion &amp; approval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Publish snapshots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5257800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Load latest 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Execute evaluation logic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Return enabled + reasonCode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Local 30s cache fallback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— From Configuration to Evaluation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11795760" cy="256032"/>
          </a:xfrm>
          <a:prstGeom prst="rect">
            <a:avLst/>
          </a:prstGeom>
          <a:solidFill>
            <a:srgbClr val="EBF0F6"/>
          </a:solidFill>
          <a:ln w="10160">
            <a:solidFill>
              <a:srgbClr val="3A5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5895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① Write Path (Configure → Publish)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0" name="Text 8"/>
          <p:cNvSpPr/>
          <p:nvPr/>
        </p:nvSpPr>
        <p:spPr>
          <a:xfrm>
            <a:off x="1618488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REST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38528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8528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8416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4" name="Text 12"/>
          <p:cNvSpPr/>
          <p:nvPr/>
        </p:nvSpPr>
        <p:spPr>
          <a:xfrm>
            <a:off x="3328416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Write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48456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38344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8" name="Text 16"/>
          <p:cNvSpPr/>
          <p:nvPr/>
        </p:nvSpPr>
        <p:spPr>
          <a:xfrm>
            <a:off x="5038344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Flush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58384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tables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Push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068312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SnapshotCache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58200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Inval.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778240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8128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88168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88168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2084832"/>
            <a:ext cx="11795760" cy="256032"/>
          </a:xfrm>
          <a:prstGeom prst="rect">
            <a:avLst/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9397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5C"/>
                </a:solidFill>
              </a:rPr>
              <a:t>② Snapshot Structure (Immutable)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2377440"/>
            <a:ext cx="11795760" cy="1188720"/>
          </a:xfrm>
          <a:prstGeom prst="roundRect">
            <a:avLst>
              <a:gd name="adj" fmla="val 6154"/>
            </a:avLst>
          </a:prstGeom>
          <a:solidFill>
            <a:srgbClr val="1A2535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43230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"appKey": "vue-demo",  "environment": "prod",  "version": 42,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268833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"checksum": "sha256:abcdef...",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2944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"flags": [ { "flagKey": "new-checkout", "enabled": true, "releaseKey": "20260520",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20040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"rules": [ { "conditionJson": {"region":["Asia"]}, "rolloutPercentage": 80 } ] } ] }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" y="3657600"/>
            <a:ext cx="11795760" cy="256032"/>
          </a:xfrm>
          <a:prstGeom prst="rect">
            <a:avLst/>
          </a:prstGeom>
          <a:solidFill>
            <a:srgbClr val="E5EFEA"/>
          </a:solidFill>
          <a:ln w="10160">
            <a:solidFill>
              <a:srgbClr val="3D6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666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③ Read Path (SDK Evaluation, hot path P99 &lt; 5ms)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608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call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65376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45" name="Text 43"/>
          <p:cNvSpPr/>
          <p:nvPr/>
        </p:nvSpPr>
        <p:spPr>
          <a:xfrm>
            <a:off x="1865376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31136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31136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SDK 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30s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03904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49" name="Text 47"/>
          <p:cNvSpPr/>
          <p:nvPr/>
        </p:nvSpPr>
        <p:spPr>
          <a:xfrm>
            <a:off x="3803904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169664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9664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CDN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ETag 60s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42432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53" name="Text 51"/>
          <p:cNvSpPr/>
          <p:nvPr/>
        </p:nvSpPr>
        <p:spPr>
          <a:xfrm>
            <a:off x="5742432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08192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08192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JVM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SnapshotCache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80960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57" name="Text 55"/>
          <p:cNvSpPr/>
          <p:nvPr/>
        </p:nvSpPr>
        <p:spPr>
          <a:xfrm>
            <a:off x="7680960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046720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0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Redis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5min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619488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61" name="Text 59"/>
          <p:cNvSpPr/>
          <p:nvPr/>
        </p:nvSpPr>
        <p:spPr>
          <a:xfrm>
            <a:off x="9619488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985248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85248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82880" y="4892040"/>
            <a:ext cx="11795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9560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④ Response: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719072" y="4956048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flagKey, enabled: true/false, reasonCode, matchedRuleId, snapshotVersion, releaseKey }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20040" y="5212080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SDK continues serving the last valid snapshot if control plane is unavailable (Stale-if-Error); data plane is fully independent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Engine — Decision Tree &amp; Hash Bucketing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Evaluation Decision Tree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070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evaluate(snapshot, flagKey, ctx)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20824" y="1517904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627632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276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exists?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20824" y="2084832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212848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128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flag.enabled = true?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0824" y="2670048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79806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980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rules (priority asc)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20824" y="3255264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401568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015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match?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20824" y="3858768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98678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867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&lt; rollout%?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20824" y="4443984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572000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E5EFEA"/>
          </a:solidFill>
          <a:ln w="15240">
            <a:solidFill>
              <a:srgbClr val="3D6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5720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3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RULE_MATCH  enabled=true 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1280160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1188720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1887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FLAG_NOT_FOUND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60520" y="1865376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1773936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7739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FLAG_DISABLED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60520" y="3621024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3529584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5295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DEFAULT_VALUE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60520" y="4206240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0" y="4114800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1148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ROLLOUT_NOT_INCLUDED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23760" y="749808"/>
            <a:ext cx="47548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749808"/>
            <a:ext cx="475488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7680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Cross-Language Hash Bucketing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60920" y="117043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A2535"/>
          </a:solidFill>
          <a:ln/>
        </p:spPr>
      </p:sp>
      <p:sp>
        <p:nvSpPr>
          <p:cNvPr id="42" name="Text 40"/>
          <p:cNvSpPr/>
          <p:nvPr/>
        </p:nvSpPr>
        <p:spPr>
          <a:xfrm>
            <a:off x="7360920" y="11704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= SHA-256(flagKey + ":" + subjectKey)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60920" y="1682496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A2535"/>
          </a:solidFill>
          <a:ln/>
        </p:spPr>
      </p:sp>
      <p:sp>
        <p:nvSpPr>
          <p:cNvPr id="44" name="Text 42"/>
          <p:cNvSpPr/>
          <p:nvPr/>
        </p:nvSpPr>
        <p:spPr>
          <a:xfrm>
            <a:off x="7360920" y="16824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[0..3] as BigEndian uint32  mod 100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60920" y="22494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22494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Output range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98280" y="22951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0 – 99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360920" y="27066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27066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Hash algorithm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98280" y="2752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SHA-256 (first 4 bytes)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360920" y="31638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60920" y="31638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Byte order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098280" y="3209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Big-Endian uint32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360920" y="36210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36210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Consistency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98280" y="36667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Java / TS / Go / Python identical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360920" y="40782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60920" y="40782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Stability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098280" y="41239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Same input always maps to same bucket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360920" y="4608576"/>
            <a:ext cx="448056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46451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conditionJson Matching Rules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452360" y="49377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region: "Asia"         → exact match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452360" y="518464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region: ["Asia","EU"]  → contains match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52360" y="543153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null / empty           → no restriction (always match)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452360" y="567842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multiple fields        → AND logic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Promotion Flow — Progressive Rollout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100%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100%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100%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28116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7260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28" name="Text 26"/>
          <p:cNvSpPr/>
          <p:nvPr/>
        </p:nvSpPr>
        <p:spPr>
          <a:xfrm>
            <a:off x="937260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10%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15400" y="804672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804672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</a:rPr>
              <a:t>⛔ Approve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</a:rPr>
              <a:t>Required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359152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359152"/>
            <a:ext cx="5486400" cy="310896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Non-prod Environments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2779776"/>
            <a:ext cx="292608" cy="292608"/>
          </a:xfrm>
          <a:prstGeom prst="ellipse">
            <a:avLst/>
          </a:prstGeom>
          <a:solidFill>
            <a:srgbClr val="3572A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779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27980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Config — persist flag config + rules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438144"/>
            <a:ext cx="292608" cy="292608"/>
          </a:xfrm>
          <a:prstGeom prst="ellipse">
            <a:avLst/>
          </a:prstGeom>
          <a:solidFill>
            <a:srgbClr val="3572A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34564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— generate snapshot, version +1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096512"/>
            <a:ext cx="292608" cy="292608"/>
          </a:xfrm>
          <a:prstGeom prst="ellipse">
            <a:avLst/>
          </a:prstGeom>
          <a:solidFill>
            <a:srgbClr val="3572A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96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fetches latest snapshot via ETag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2359152"/>
            <a:ext cx="5577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2359152"/>
            <a:ext cx="5577840" cy="310896"/>
          </a:xfrm>
          <a:prstGeom prst="rect">
            <a:avLst/>
          </a:prstGeom>
          <a:solidFill>
            <a:srgbClr val="8A3D3D"/>
          </a:solidFill>
          <a:ln/>
        </p:spPr>
      </p:sp>
      <p:sp>
        <p:nvSpPr>
          <p:cNvPr id="45" name="Text 43"/>
          <p:cNvSpPr/>
          <p:nvPr/>
        </p:nvSpPr>
        <p:spPr>
          <a:xfrm>
            <a:off x="6528816" y="2377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 Environment (Approve Required)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0" y="2779776"/>
            <a:ext cx="292608" cy="292608"/>
          </a:xfrm>
          <a:prstGeom prst="ellipse">
            <a:avLst/>
          </a:prstGeom>
          <a:solidFill>
            <a:srgbClr val="8A3D3D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2779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27980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Config — persist flag config + rules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83680" y="3438144"/>
            <a:ext cx="292608" cy="292608"/>
          </a:xfrm>
          <a:prstGeom prst="ellipse">
            <a:avLst/>
          </a:prstGeom>
          <a:solidFill>
            <a:srgbClr val="8A3D3D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49440" y="3456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— approver confirms (prod only)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583680" y="4096512"/>
            <a:ext cx="292608" cy="292608"/>
          </a:xfrm>
          <a:prstGeom prst="ellipse">
            <a:avLst/>
          </a:prstGeom>
          <a:solidFill>
            <a:srgbClr val="8A3D3D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0" y="4096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49440" y="4114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— snapshot generated + CDN invalidated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5376672"/>
            <a:ext cx="11704320" cy="658368"/>
          </a:xfrm>
          <a:prstGeom prst="rect">
            <a:avLst/>
          </a:prstGeom>
          <a:solidFill>
            <a:srgbClr val="F2E8E8"/>
          </a:solidFill>
          <a:ln w="12700">
            <a:solidFill>
              <a:srgbClr val="8A3D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4315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A1A"/>
                </a:solidFill>
              </a:rPr>
              <a:t>🚨 Emergency Rollback (Kill Switch)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570585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setEnabled(false) or setRollout(0) → immediately re-publish snapshot → SDK picks it up within 30s (TTL cache)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Cache Architecture — L1 to L5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338560" cy="713232"/>
          </a:xfrm>
          <a:prstGeom prst="roundRect">
            <a:avLst>
              <a:gd name="adj" fmla="val 7692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713232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702990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5C"/>
                </a:solidFill>
              </a:rPr>
              <a:t>L1  SDK In-Memory Cache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30998" y="822960"/>
            <a:ext cx="38551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572A0"/>
                </a:solidFill>
              </a:rPr>
              <a:t>TTL 30s · in-process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9875520" cy="713232"/>
          </a:xfrm>
          <a:prstGeom prst="roundRect">
            <a:avLst>
              <a:gd name="adj" fmla="val 7692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737360"/>
            <a:ext cx="54864" cy="713232"/>
          </a:xfrm>
          <a:prstGeom prst="rect">
            <a:avLst/>
          </a:prstGeom>
          <a:solidFill>
            <a:srgbClr val="9A723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737360"/>
            <a:ext cx="612282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F10"/>
                </a:solidFill>
              </a:rPr>
              <a:t>L2  CDN Cache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26173" y="1737360"/>
            <a:ext cx="335767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7230"/>
                </a:solidFill>
              </a:rPr>
              <a:t>TTL 60s · ETag conditional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4688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65176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2651760"/>
            <a:ext cx="54864" cy="713232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2651760"/>
            <a:ext cx="521573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F42"/>
                </a:solidFill>
              </a:rPr>
              <a:t>L3  SnapshotCache (JVM heap)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1347" y="2651760"/>
            <a:ext cx="286024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67A"/>
                </a:solidFill>
              </a:rPr>
              <a:t>ConcurrentHashMap · hot path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3832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356616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3566160"/>
            <a:ext cx="54864" cy="713232"/>
          </a:xfrm>
          <a:prstGeom prst="rect">
            <a:avLst/>
          </a:prstGeom>
          <a:solidFill>
            <a:srgbClr val="8A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2606040" y="3566160"/>
            <a:ext cx="430865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A1A"/>
                </a:solidFill>
              </a:rPr>
              <a:t>L4  Redis Distributed Cache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6522" y="3566160"/>
            <a:ext cx="23628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3D3D"/>
                </a:solidFill>
              </a:rPr>
              <a:t>TTL 5min · 3M+3S Cluster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42976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448056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4480560"/>
            <a:ext cx="54864" cy="713232"/>
          </a:xfrm>
          <a:prstGeom prst="rect">
            <a:avLst/>
          </a:prstGeom>
          <a:solidFill>
            <a:srgbClr val="7A8EA3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448056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5A"/>
                </a:solidFill>
              </a:rPr>
              <a:t>L5  Database (Oracle / H2)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11696" y="4480560"/>
            <a:ext cx="1865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3"/>
                </a:solidFill>
              </a:rPr>
              <a:t>Last-resort source of truth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18120" y="804672"/>
            <a:ext cx="42062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804672"/>
            <a:ext cx="420624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Cache Strategy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09560" y="1225296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9560" y="1225296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4" name="Text 32"/>
          <p:cNvSpPr/>
          <p:nvPr/>
        </p:nvSpPr>
        <p:spPr>
          <a:xfrm>
            <a:off x="7973568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Write-Through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73568" y="157276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Publish writes DB + flushes SnapshotCache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+ pushes CDN invalidation simultaneously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09560" y="2267712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2267712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8" name="Text 36"/>
          <p:cNvSpPr/>
          <p:nvPr/>
        </p:nvSpPr>
        <p:spPr>
          <a:xfrm>
            <a:off x="7973568" y="2322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ETag Conditional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73568" y="261518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SDK sends If-None-Match: v42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Server returns 304 Not Modified to save bandwidth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09560" y="3310128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310128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2" name="Text 40"/>
          <p:cNvSpPr/>
          <p:nvPr/>
        </p:nvSpPr>
        <p:spPr>
          <a:xfrm>
            <a:off x="7973568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Stale-if-Error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73568" y="365760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If control plane / L3 / L4 unavailable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SDK continues serving last valid snapshot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09560" y="4352544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4352544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6" name="Text 44"/>
          <p:cNvSpPr/>
          <p:nvPr/>
        </p:nvSpPr>
        <p:spPr>
          <a:xfrm>
            <a:off x="7973568" y="4407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Monotonic Version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73568" y="470001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Snapshot.version is monotonically increasing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Old SDK cannot overwrite newer cache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5870448"/>
            <a:ext cx="7315200" cy="594360"/>
          </a:xfrm>
          <a:prstGeom prst="rect">
            <a:avLst/>
          </a:prstGeom>
          <a:solidFill>
            <a:srgbClr val="E5EFEA"/>
          </a:solidFill>
          <a:ln w="12700">
            <a:solidFill>
              <a:srgbClr val="3D6E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9070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🎯 Hit Rate Targets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28600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L1: 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&gt; 95%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02336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L2: 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8056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&gt; 90%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76072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L3: 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&gt; 99%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9808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DB direct: 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5528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&lt; 0.1%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818120" y="590702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Alert: miss rate &gt; 20%  or  version lag &gt; 5min triggers alert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Deployment Spec &amp; Single-Region High Availability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K8S Deployment Spec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237744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607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Component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1060704"/>
            <a:ext cx="109728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0607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Replicas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49040" y="1060704"/>
            <a:ext cx="146304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0607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HPA Policy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060704"/>
            <a:ext cx="132588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06070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Resources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371600"/>
            <a:ext cx="23774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71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backend (control)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1371600"/>
            <a:ext cx="10972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371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14630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3716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371600"/>
            <a:ext cx="13258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37160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1C / 1G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700784"/>
            <a:ext cx="23774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7007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evaluation-service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1700784"/>
            <a:ext cx="10972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17007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3 – 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700784"/>
            <a:ext cx="14630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7007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CPU &gt; 60%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1700784"/>
            <a:ext cx="13258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17007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0.5C / 512M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029968"/>
            <a:ext cx="23774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0299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web-admin (nginx)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2029968"/>
            <a:ext cx="10972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02996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2029968"/>
            <a:ext cx="14630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0299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2029968"/>
            <a:ext cx="13258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02996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0.2C / 256M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359152"/>
            <a:ext cx="23774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3591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Redis Cluster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51760" y="2359152"/>
            <a:ext cx="10972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2359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3M+3S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49040" y="2359152"/>
            <a:ext cx="14630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23591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—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2359152"/>
            <a:ext cx="13258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235915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2C / 4G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2798064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27980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697480" y="2834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Environment variables, DB connection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3127248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127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697480" y="31638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DB password, JWT signing key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456432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34564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PodDisruptionBudget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697480" y="34930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At least 1 instance available during rolling update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3785616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3785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697480" y="3822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evaluation-service auto-scales 3–10 replicas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4169664"/>
            <a:ext cx="6400800" cy="713232"/>
          </a:xfrm>
          <a:prstGeom prst="rect">
            <a:avLst/>
          </a:prstGeom>
          <a:solidFill>
            <a:srgbClr val="E5EFEA"/>
          </a:solidFill>
          <a:ln w="12700">
            <a:solidFill>
              <a:srgbClr val="3D6E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SLA Targets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4498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Availability: 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88720" y="4498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E2A"/>
                </a:solidFill>
              </a:rPr>
              <a:t>99.99%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2560320" y="4498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Evaluation P99: 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91840" y="4498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E2A"/>
                </a:solidFill>
              </a:rPr>
              <a:t>&lt; 5ms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663440" y="4498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 refresh: 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94960" y="4498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E2A"/>
                </a:solidFill>
              </a:rPr>
              <a:t>&lt; 30s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58000" y="749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Single-Region High Availability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8686800" y="1078992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10789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321040" y="1682496"/>
            <a:ext cx="2103120" cy="420624"/>
          </a:xfrm>
          <a:prstGeom prst="roundRect">
            <a:avLst>
              <a:gd name="adj" fmla="val 1956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21040" y="168249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903720" y="2304288"/>
            <a:ext cx="1463040" cy="420624"/>
          </a:xfrm>
          <a:prstGeom prst="roundRect">
            <a:avLst>
              <a:gd name="adj" fmla="val 19565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03720" y="230428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503920" y="2304288"/>
            <a:ext cx="2011680" cy="420624"/>
          </a:xfrm>
          <a:prstGeom prst="roundRect">
            <a:avLst>
              <a:gd name="adj" fmla="val 19565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03920" y="23042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(multi-instance)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766560" y="2944368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66560" y="29443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 replicas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235440" y="2944368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35440" y="29443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3–10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766560" y="3767328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6560" y="37673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Cluster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 + 3S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9235440" y="3767328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35440" y="37673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Primary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Replica ×2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253728" y="1499616"/>
            <a:ext cx="201168" cy="182880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4" name="Shape 82"/>
          <p:cNvSpPr/>
          <p:nvPr/>
        </p:nvSpPr>
        <p:spPr>
          <a:xfrm>
            <a:off x="9253728" y="2103120"/>
            <a:ext cx="201168" cy="201168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5" name="Shape 83"/>
          <p:cNvSpPr/>
          <p:nvPr/>
        </p:nvSpPr>
        <p:spPr>
          <a:xfrm>
            <a:off x="7699248" y="2788920"/>
            <a:ext cx="201168" cy="155448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6" name="Shape 84"/>
          <p:cNvSpPr/>
          <p:nvPr/>
        </p:nvSpPr>
        <p:spPr>
          <a:xfrm>
            <a:off x="10259568" y="2788920"/>
            <a:ext cx="201168" cy="155448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7" name="Shape 85"/>
          <p:cNvSpPr/>
          <p:nvPr/>
        </p:nvSpPr>
        <p:spPr>
          <a:xfrm>
            <a:off x="7699248" y="3511296"/>
            <a:ext cx="201168" cy="25603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8" name="Shape 86"/>
          <p:cNvSpPr/>
          <p:nvPr/>
        </p:nvSpPr>
        <p:spPr>
          <a:xfrm>
            <a:off x="10259568" y="3511296"/>
            <a:ext cx="201168" cy="256032"/>
          </a:xfrm>
          <a:prstGeom prst="downArrow">
            <a:avLst/>
          </a:prstGeom>
          <a:solidFill>
            <a:srgbClr val="7A8EA3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Deployment &amp; Disaster Recovery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5349240" cy="4937760"/>
          </a:xfrm>
          <a:prstGeom prst="rect">
            <a:avLst/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863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F42"/>
                </a:solidFill>
              </a:rPr>
              <a:t>🏢 Primary Data Center (Active)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20840" y="749808"/>
            <a:ext cx="5257800" cy="4937760"/>
          </a:xfrm>
          <a:prstGeom prst="rect">
            <a:avLst/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7863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5C"/>
                </a:solidFill>
              </a:rPr>
              <a:t>🏢 DR Data Center (Standby/Active)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70432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70432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Cluster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Evaluation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157984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57984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Primary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(synchronous replication →)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145536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145536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Cluster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(async replication →)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4133088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4133088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Node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geo-nearest routing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76288" y="1170432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170432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Cluster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Evaluation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76288" y="2157984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157984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Replica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(promotable to Primary)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76288" y="3145536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3145536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Cluster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(async replication)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4133088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4133088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Node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geo-nearest routing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1609344"/>
            <a:ext cx="1280160" cy="201168"/>
          </a:xfrm>
          <a:prstGeom prst="rightArrow">
            <a:avLst/>
          </a:prstGeom>
          <a:solidFill>
            <a:srgbClr val="3A567A"/>
          </a:solidFill>
          <a:ln/>
        </p:spPr>
      </p:sp>
      <p:sp>
        <p:nvSpPr>
          <p:cNvPr id="26" name="Text 24"/>
          <p:cNvSpPr/>
          <p:nvPr/>
        </p:nvSpPr>
        <p:spPr>
          <a:xfrm>
            <a:off x="5376672" y="1865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2F42"/>
                </a:solidFill>
              </a:rPr>
              <a:t>Sync replication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2596896"/>
            <a:ext cx="1280160" cy="201168"/>
          </a:xfrm>
          <a:prstGeom prst="rightArrow">
            <a:avLst/>
          </a:prstGeom>
          <a:solidFill>
            <a:srgbClr val="9A7230"/>
          </a:solidFill>
          <a:ln/>
        </p:spPr>
      </p:sp>
      <p:sp>
        <p:nvSpPr>
          <p:cNvPr id="28" name="Text 26"/>
          <p:cNvSpPr/>
          <p:nvPr/>
        </p:nvSpPr>
        <p:spPr>
          <a:xfrm>
            <a:off x="5376672" y="28529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Async replication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3584448"/>
            <a:ext cx="1280160" cy="201168"/>
          </a:xfrm>
          <a:prstGeom prst="rightArrow">
            <a:avLst/>
          </a:prstGeom>
          <a:solidFill>
            <a:srgbClr val="9A7230"/>
          </a:solidFill>
          <a:ln/>
        </p:spPr>
      </p:sp>
      <p:sp>
        <p:nvSpPr>
          <p:cNvPr id="30" name="Text 28"/>
          <p:cNvSpPr/>
          <p:nvPr/>
        </p:nvSpPr>
        <p:spPr>
          <a:xfrm>
            <a:off x="5376672" y="38404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CDN sync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484632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84632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GeoDNS / GSLB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Global Load Balancer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34640" y="4773168"/>
            <a:ext cx="201168" cy="91440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34" name="Shape 32"/>
          <p:cNvSpPr/>
          <p:nvPr/>
        </p:nvSpPr>
        <p:spPr>
          <a:xfrm>
            <a:off x="9189720" y="4773168"/>
            <a:ext cx="201168" cy="91440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5833872"/>
            <a:ext cx="11795760" cy="658368"/>
          </a:xfrm>
          <a:prstGeom prst="rect">
            <a:avLst/>
          </a:prstGeom>
          <a:solidFill>
            <a:srgbClr val="F5EDDB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94360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F10"/>
                </a:solidFill>
              </a:rPr>
              <a:t>🎯 RTO &lt; 30s (auto-failover)  ·  RPO &lt; 5s (sync replication)  ·  Geo CDN reduces cross-region latency  ·  DR DB promotable with zero data loss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Observability — Three Pillars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3749040" cy="54864"/>
          </a:xfrm>
          <a:prstGeom prst="roundRect">
            <a:avLst/>
          </a:prstGeom>
          <a:solidFill>
            <a:srgbClr val="3572A0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5C"/>
                </a:solidFill>
              </a:rPr>
              <a:t>📊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" y="1298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72A0"/>
                </a:solidFill>
              </a:rPr>
              <a:t>Prometheus + Grafana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627632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Evaluation QPS (target &gt; 10k/s)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2121408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Cache hit rate (L1/L2/L3)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615184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Snapshot version lag (&lt; 5min)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310896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P99 latency (&lt; 5ms)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7772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777240"/>
            <a:ext cx="3749040" cy="54864"/>
          </a:xfrm>
          <a:prstGeom prst="roundRect">
            <a:avLst/>
          </a:prstGeom>
          <a:solidFill>
            <a:srgbClr val="3A567A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976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F42"/>
                </a:solidFill>
              </a:rPr>
              <a:t>📋 Logs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79976" y="1298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567A"/>
                </a:solidFill>
              </a:rPr>
              <a:t>ELK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79976" y="1627632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Structured logs + TraceId correlation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79976" y="2121408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Evaluation log (flagKey + result)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79976" y="2615184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Snapshot publish audit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79976" y="310896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ff_change_event change records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7772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777240"/>
            <a:ext cx="3749040" cy="54864"/>
          </a:xfrm>
          <a:prstGeom prst="roundRect">
            <a:avLst/>
          </a:prstGeom>
          <a:solidFill>
            <a:srgbClr val="9A7230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F10"/>
                </a:solidFill>
              </a:rPr>
              <a:t>🔗 Traces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57616" y="1298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230"/>
                </a:solidFill>
              </a:rPr>
              <a:t>Jaeger / Zipkin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57616" y="1627632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SDK → CDN → L3 → Redis → DB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7616" y="2121408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End-to-end distributed tracing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57616" y="2615184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Slow-request flame graph analysis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57616" y="310896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Cross-service dependency map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736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Key Alert Rules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4320" y="508406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2E8E8"/>
          </a:solidFill>
          <a:ln w="11430">
            <a:solidFill>
              <a:srgbClr val="8A3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5138928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5138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" y="515721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Evaluation error rate &gt; 0.1%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51960" y="508406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5EDDB"/>
          </a:solidFill>
          <a:ln w="11430">
            <a:solidFill>
              <a:srgbClr val="9A72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5138928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36" name="Text 34"/>
          <p:cNvSpPr/>
          <p:nvPr/>
        </p:nvSpPr>
        <p:spPr>
          <a:xfrm>
            <a:off x="4325112" y="5138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82312" y="515721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F10"/>
                </a:solidFill>
              </a:rPr>
              <a:t>Cache miss rate &gt; 20%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9600" y="508406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5EDDB"/>
          </a:solidFill>
          <a:ln w="11430">
            <a:solidFill>
              <a:srgbClr val="9A72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02752" y="5138928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40" name="Text 38"/>
          <p:cNvSpPr/>
          <p:nvPr/>
        </p:nvSpPr>
        <p:spPr>
          <a:xfrm>
            <a:off x="8302752" y="5138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59952" y="515721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F10"/>
                </a:solidFill>
              </a:rPr>
              <a:t>Snapshot version lag &gt; 5min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555955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2E8E8"/>
          </a:solidFill>
          <a:ln w="11430">
            <a:solidFill>
              <a:srgbClr val="8A3D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561441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561441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" y="56327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DB replication lag &gt; 100ms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51960" y="555955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5EDDB"/>
          </a:solidFill>
          <a:ln w="11430">
            <a:solidFill>
              <a:srgbClr val="9A72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25112" y="561441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48" name="Text 46"/>
          <p:cNvSpPr/>
          <p:nvPr/>
        </p:nvSpPr>
        <p:spPr>
          <a:xfrm>
            <a:off x="4325112" y="561441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82312" y="56327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F10"/>
                </a:solidFill>
              </a:rPr>
              <a:t>Evaluation P99 &gt; 10ms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29600" y="555955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2E8E8"/>
          </a:solidFill>
          <a:ln w="11430">
            <a:solidFill>
              <a:srgbClr val="8A3D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02752" y="561441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52" name="Text 50"/>
          <p:cNvSpPr/>
          <p:nvPr/>
        </p:nvSpPr>
        <p:spPr>
          <a:xfrm>
            <a:off x="8302752" y="561441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759952" y="56327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Redis connection failure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Design &amp; Data Model (6 Tables)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53949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49808"/>
            <a:ext cx="539496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7680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🔒 Security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" y="11521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11521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2070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Authentication (Admin)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4996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OAuth2 / OIDC; RBAC with three roles: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Admin · Approver · Read-only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" y="20665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" y="20665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21214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SDK Authentication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4140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AppKey + request signing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Rate Limiting to prevent abuse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" y="29809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" y="29809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0358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Transport Security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33284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End-to-end TLS 1.3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Sensitive fields encrypted at rest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" y="38953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" y="38953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9502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Audit Log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42428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All changes → ff_change_event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Immutable; full traceability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" y="48097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" y="48097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48646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Checksum Integrity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51572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 SHA-256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SDK validates locally on receipt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749808"/>
            <a:ext cx="60350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749808"/>
            <a:ext cx="6035040" cy="310896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0" name="Text 28"/>
          <p:cNvSpPr/>
          <p:nvPr/>
        </p:nvSpPr>
        <p:spPr>
          <a:xfrm>
            <a:off x="6071616" y="7680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🗄️ Data Model (6 Tables)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80760" y="1152144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5EDDB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152144"/>
            <a:ext cx="36576" cy="640080"/>
          </a:xfrm>
          <a:prstGeom prst="rect">
            <a:avLst/>
          </a:prstGeom>
          <a:solidFill>
            <a:srgbClr val="9A7230"/>
          </a:solidFill>
          <a:ln/>
        </p:spPr>
      </p:sp>
      <p:sp>
        <p:nvSpPr>
          <p:cNvPr id="33" name="Shape 31"/>
          <p:cNvSpPr/>
          <p:nvPr/>
        </p:nvSpPr>
        <p:spPr>
          <a:xfrm>
            <a:off x="6144768" y="1298448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9A7230"/>
          </a:solidFill>
          <a:ln/>
        </p:spPr>
      </p:sp>
      <p:sp>
        <p:nvSpPr>
          <p:cNvPr id="34" name="Text 32"/>
          <p:cNvSpPr/>
          <p:nvPr/>
        </p:nvSpPr>
        <p:spPr>
          <a:xfrm>
            <a:off x="6144768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ff_application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595360" y="13167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3F10"/>
                </a:solidFill>
              </a:rPr>
              <a:t>Registered applications (appKey / name / owner)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1911096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BF0F6"/>
          </a:solidFill>
          <a:ln w="12700">
            <a:solidFill>
              <a:srgbClr val="3A56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1911096"/>
            <a:ext cx="36576" cy="640080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205740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A567A"/>
          </a:solidFill>
          <a:ln/>
        </p:spPr>
      </p:sp>
      <p:sp>
        <p:nvSpPr>
          <p:cNvPr id="39" name="Text 37"/>
          <p:cNvSpPr/>
          <p:nvPr/>
        </p:nvSpPr>
        <p:spPr>
          <a:xfrm>
            <a:off x="6144768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95360" y="2075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Global flag definition (shared across envs, has releaseKey)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2670048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6EFF8"/>
          </a:solidFill>
          <a:ln w="12700">
            <a:solidFill>
              <a:srgbClr val="3572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0760" y="2670048"/>
            <a:ext cx="36576" cy="64008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3" name="Shape 41"/>
          <p:cNvSpPr/>
          <p:nvPr/>
        </p:nvSpPr>
        <p:spPr>
          <a:xfrm>
            <a:off x="6144768" y="281635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572A0"/>
          </a:solidFill>
          <a:ln/>
        </p:spPr>
      </p:sp>
      <p:sp>
        <p:nvSpPr>
          <p:cNvPr id="44" name="Text 42"/>
          <p:cNvSpPr/>
          <p:nvPr/>
        </p:nvSpPr>
        <p:spPr>
          <a:xfrm>
            <a:off x="6144768" y="2816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ff_flag_config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95360" y="28346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Flag config per app+env (rolloutPercentage / enabled)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80760" y="342900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6EFF8"/>
          </a:solidFill>
          <a:ln w="12700">
            <a:solidFill>
              <a:srgbClr val="3572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3429000"/>
            <a:ext cx="36576" cy="64008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8" name="Shape 46"/>
          <p:cNvSpPr/>
          <p:nvPr/>
        </p:nvSpPr>
        <p:spPr>
          <a:xfrm>
            <a:off x="6144768" y="3575304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572A0"/>
          </a:solidFill>
          <a:ln/>
        </p:spPr>
      </p:sp>
      <p:sp>
        <p:nvSpPr>
          <p:cNvPr id="49" name="Text 47"/>
          <p:cNvSpPr/>
          <p:nvPr/>
        </p:nvSpPr>
        <p:spPr>
          <a:xfrm>
            <a:off x="6144768" y="35753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ff_rule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95360" y="35935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Matching rules (conditionJson + rolloutPercentage)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80760" y="4187952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5EFEA"/>
          </a:solidFill>
          <a:ln w="12700">
            <a:solidFill>
              <a:srgbClr val="3D6E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0760" y="4187952"/>
            <a:ext cx="36576" cy="640080"/>
          </a:xfrm>
          <a:prstGeom prst="rect">
            <a:avLst/>
          </a:prstGeom>
          <a:solidFill>
            <a:srgbClr val="3D6E50"/>
          </a:solidFill>
          <a:ln/>
        </p:spPr>
      </p:sp>
      <p:sp>
        <p:nvSpPr>
          <p:cNvPr id="53" name="Shape 51"/>
          <p:cNvSpPr/>
          <p:nvPr/>
        </p:nvSpPr>
        <p:spPr>
          <a:xfrm>
            <a:off x="6144768" y="4334256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D6E50"/>
          </a:solidFill>
          <a:ln/>
        </p:spPr>
      </p:sp>
      <p:sp>
        <p:nvSpPr>
          <p:cNvPr id="54" name="Text 52"/>
          <p:cNvSpPr/>
          <p:nvPr/>
        </p:nvSpPr>
        <p:spPr>
          <a:xfrm>
            <a:off x="6144768" y="4334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ff_config_snapshot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595360" y="435254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E2A"/>
                </a:solidFill>
              </a:rPr>
              <a:t>Published immutable snapshots (version / checksum)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80760" y="4946904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2E8E8"/>
          </a:solidFill>
          <a:ln w="12700">
            <a:solidFill>
              <a:srgbClr val="8A3D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946904"/>
            <a:ext cx="36576" cy="640080"/>
          </a:xfrm>
          <a:prstGeom prst="rect">
            <a:avLst/>
          </a:prstGeom>
          <a:solidFill>
            <a:srgbClr val="8A3D3D"/>
          </a:solidFill>
          <a:ln/>
        </p:spPr>
      </p:sp>
      <p:sp>
        <p:nvSpPr>
          <p:cNvPr id="58" name="Shape 56"/>
          <p:cNvSpPr/>
          <p:nvPr/>
        </p:nvSpPr>
        <p:spPr>
          <a:xfrm>
            <a:off x="6144768" y="5093208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8A3D3D"/>
          </a:solidFill>
          <a:ln/>
        </p:spPr>
      </p:sp>
      <p:sp>
        <p:nvSpPr>
          <p:cNvPr id="59" name="Text 57"/>
          <p:cNvSpPr/>
          <p:nvPr/>
        </p:nvSpPr>
        <p:spPr>
          <a:xfrm>
            <a:off x="6144768" y="5093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ff_change_event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595360" y="51114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1A1A"/>
                </a:solidFill>
              </a:rPr>
              <a:t>Audit log — all changes, immutable, traceable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0"/>
            <a:ext cx="2862072" cy="685800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7548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C5DE"/>
                </a:solidFill>
              </a:rPr>
              <a:t>Key Achievements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2064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Two-plane isolation — control plane failure does not affect evaluation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20848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Immutable Snapshot + SHA-256 Checksum, fully versioned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26151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5-level cache, hot path P99 &lt; 5ms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31455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Cross-language hash bucketing — Java / TS results identical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36758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Progressive env promotion + prod Approve gate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RTO &lt; 30s / RPO &lt; 5s multi-region DR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15568"/>
            <a:ext cx="5852160" cy="3749040"/>
          </a:xfrm>
          <a:prstGeom prst="roundRect">
            <a:avLst>
              <a:gd name="adj" fmla="val 243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188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B060"/>
                </a:solidFill>
              </a:rPr>
              <a:t>Future Roadmap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1344" y="1609344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627632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Push — proactively push SDK after Publish to reduce pull latency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395728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414016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— add experiment groups on top of rollout bucketing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3182112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81344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200400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SDK — complete ETag support + local persistence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3968496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3968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986784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Cleanup — archive long-unused flags to prevent config bloat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solidFill>
            <a:srgbClr val="111C2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089904"/>
            <a:ext cx="1152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 Management Service  ·  Spring Boot 3 + Vue 3 + TypeScript SDK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2026-05-21T08:44:52Z</dcterms:created>
  <dcterms:modified xsi:type="dcterms:W3CDTF">2026-05-21T08:44:52Z</dcterms:modified>
</cp:coreProperties>
</file>