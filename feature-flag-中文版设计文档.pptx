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0"/>
            <a:ext cx="3410712" cy="685800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0"/>
            <a:ext cx="2039112" cy="6858000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914400"/>
            <a:ext cx="45720" cy="173736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229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功能开关管理服务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777240" y="175564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C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 Management Service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5943600" cy="18288"/>
          </a:xfrm>
          <a:prstGeom prst="rect">
            <a:avLst/>
          </a:prstGeom>
          <a:solidFill>
            <a:srgbClr val="4A6070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48716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487168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高并发 · P99 &lt; 5ms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350008" y="248716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50008" y="2487168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高可用 · 多活灾备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922776" y="248716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22776" y="2487168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不可变快照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95544" y="2487168"/>
            <a:ext cx="1444752" cy="310896"/>
          </a:xfrm>
          <a:prstGeom prst="roundRect">
            <a:avLst>
              <a:gd name="adj" fmla="val 17647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6A9E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95544" y="2487168"/>
            <a:ext cx="14447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D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跨语言 SDK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0175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9D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系统架构设计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6263640"/>
            <a:ext cx="4572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· 技术方案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背景与设计目标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53949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04672"/>
            <a:ext cx="5394960" cy="329184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82296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核心问题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84048" y="121615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21615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❓ 是否启用？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194560" y="127101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enabled / kill switch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84048" y="176479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176479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👤 对谁启用？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194560" y="181965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subject / region / subjectGroup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84048" y="231343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231343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🏷️ 关联版本？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94560" y="236829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releaseKey（创建 Flag 时设置）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84048" y="2862072"/>
            <a:ext cx="1737360" cy="384048"/>
          </a:xfrm>
          <a:prstGeom prst="rect">
            <a:avLst/>
          </a:prstGeom>
          <a:solidFill>
            <a:srgbClr val="EBF0F6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" y="2862072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📊 灰度比例？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194560" y="2916936"/>
            <a:ext cx="3291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rolloutPercentage  0 – 100 %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804672"/>
            <a:ext cx="585216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035040" y="804672"/>
            <a:ext cx="5852160" cy="32918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22" name="Text 20"/>
          <p:cNvSpPr/>
          <p:nvPr/>
        </p:nvSpPr>
        <p:spPr>
          <a:xfrm>
            <a:off x="6144768" y="822960"/>
            <a:ext cx="5669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设计目标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144768" y="12252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⚡ 高并发低延迟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211312" y="1289304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P99 &lt; 5ms，评估是热路径，只读内存缓存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144768" y="170078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🛡️ 高可用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211312" y="1764792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控制面故障不影响数据面，SDK 本地缓存兜底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44768" y="217627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📸 强一致性快照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11312" y="2240280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Immutable Snapshot，同版本内评估行为一致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44768" y="26517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🌐 跨语言一致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11312" y="2715768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SHA-256 分桶，Java / TS / Go 结果相同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44768" y="312724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B3A"/>
                </a:solidFill>
              </a:rPr>
              <a:t>🔍 可解释性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211312" y="3191256"/>
            <a:ext cx="35478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每次返回 reasonCode + matchedConditions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749040"/>
            <a:ext cx="11612880" cy="329184"/>
          </a:xfrm>
          <a:prstGeom prst="rect">
            <a:avLst/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3767328"/>
            <a:ext cx="112471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F10"/>
                </a:solidFill>
              </a:rPr>
              <a:t>核心价值：无需重新部署即可动态控制功能；灰度发布降低风险；故障快速回滚；A/B 实验基础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74320" y="4251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评估结果码：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691640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7A8EA3"/>
          </a:solidFill>
          <a:ln/>
        </p:spPr>
      </p:sp>
      <p:sp>
        <p:nvSpPr>
          <p:cNvPr id="37" name="Text 35"/>
          <p:cNvSpPr/>
          <p:nvPr/>
        </p:nvSpPr>
        <p:spPr>
          <a:xfrm>
            <a:off x="1691640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FLAG_NOT_FOUND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3721608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39" name="Text 37"/>
          <p:cNvSpPr/>
          <p:nvPr/>
        </p:nvSpPr>
        <p:spPr>
          <a:xfrm>
            <a:off x="3721608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FLAG_DISABLED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751576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41" name="Text 39"/>
          <p:cNvSpPr/>
          <p:nvPr/>
        </p:nvSpPr>
        <p:spPr>
          <a:xfrm>
            <a:off x="5751576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RULE_MATCH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7781544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3" name="Text 41"/>
          <p:cNvSpPr/>
          <p:nvPr/>
        </p:nvSpPr>
        <p:spPr>
          <a:xfrm>
            <a:off x="7781544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ROLLOUT_NOT_INCLUDED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811512" y="4270248"/>
            <a:ext cx="1920240" cy="256032"/>
          </a:xfrm>
          <a:prstGeom prst="roundRect">
            <a:avLst>
              <a:gd name="adj" fmla="val 25000"/>
            </a:avLst>
          </a:prstGeom>
          <a:solidFill>
            <a:srgbClr val="7A8EA3"/>
          </a:solidFill>
          <a:ln/>
        </p:spPr>
      </p:sp>
      <p:sp>
        <p:nvSpPr>
          <p:cNvPr id="45" name="Text 43"/>
          <p:cNvSpPr/>
          <p:nvPr/>
        </p:nvSpPr>
        <p:spPr>
          <a:xfrm>
            <a:off x="9811512" y="4270248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DEFAULT_VALUE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4320" y="4663440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</a:rPr>
              <a:t>评估流程：Flag 存在? → 已启用? → 遍历 rules（priority 升序）→ 条件匹配? → bucket &lt; rollout% → enabled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74320" y="50292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数据模型（6张表）：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28600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8600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ff_application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93192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57784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57784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ff_flag_config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2376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ff_rule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886968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86968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ff_config_snapshot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0515600" y="5047488"/>
            <a:ext cx="1536192" cy="237744"/>
          </a:xfrm>
          <a:prstGeom prst="roundRect">
            <a:avLst>
              <a:gd name="adj" fmla="val 19231"/>
            </a:avLst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515600" y="50474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3D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ff_change_event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系统组件总览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0233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9A7230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 3 + Vite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0233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控制台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配置 Flag / 规则 / 发布快照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环境升级审批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5196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51960" y="82296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13" name="Text 11"/>
          <p:cNvSpPr/>
          <p:nvPr/>
        </p:nvSpPr>
        <p:spPr>
          <a:xfrm>
            <a:off x="437997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7997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A567A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 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37997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控制面 REST API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评估引擎 / 快照发布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审计日志 ff_change_event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0" y="82296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29600" y="82296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19" name="Text 17"/>
          <p:cNvSpPr/>
          <p:nvPr/>
        </p:nvSpPr>
        <p:spPr>
          <a:xfrm>
            <a:off x="8357616" y="91440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frontend-sdk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57616" y="124358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572A0"/>
          </a:solidFill>
          <a:ln/>
        </p:spPr>
      </p:sp>
      <p:sp>
        <p:nvSpPr>
          <p:cNvPr id="21" name="Text 19"/>
          <p:cNvSpPr/>
          <p:nvPr/>
        </p:nvSpPr>
        <p:spPr>
          <a:xfrm>
            <a:off x="8357616" y="124358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TypeScript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357616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 / Node SDK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ETag 条件请求 / 本地内存缓存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Stale-if-Error 降级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7432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" y="278892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25" name="Text 23"/>
          <p:cNvSpPr/>
          <p:nvPr/>
        </p:nvSpPr>
        <p:spPr>
          <a:xfrm>
            <a:off x="40233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java-sdk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0233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3572A0"/>
          </a:solidFill>
          <a:ln/>
        </p:spPr>
      </p:sp>
      <p:sp>
        <p:nvSpPr>
          <p:cNvPr id="27" name="Text 25"/>
          <p:cNvSpPr/>
          <p:nvPr/>
        </p:nvSpPr>
        <p:spPr>
          <a:xfrm>
            <a:off x="40233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Java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0233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 SDK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30s 内存缓存 / 降级兜底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跨语言哈希分桶一致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25196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51960" y="2788920"/>
            <a:ext cx="3749040" cy="54864"/>
          </a:xfrm>
          <a:prstGeom prst="roundRect">
            <a:avLst/>
          </a:prstGeom>
          <a:solidFill>
            <a:srgbClr val="7A8EA3"/>
          </a:solidFill>
          <a:ln/>
        </p:spPr>
      </p:sp>
      <p:sp>
        <p:nvSpPr>
          <p:cNvPr id="31" name="Text 29"/>
          <p:cNvSpPr/>
          <p:nvPr/>
        </p:nvSpPr>
        <p:spPr>
          <a:xfrm>
            <a:off x="437997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java-demo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37997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7A8EA3"/>
          </a:solidFill>
          <a:ln/>
        </p:spPr>
      </p:sp>
      <p:sp>
        <p:nvSpPr>
          <p:cNvPr id="33" name="Text 31"/>
          <p:cNvSpPr/>
          <p:nvPr/>
        </p:nvSpPr>
        <p:spPr>
          <a:xfrm>
            <a:off x="437997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Spring Boot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7997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后端接入示例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 java-sdk 用法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2788920"/>
            <a:ext cx="3749040" cy="1783080"/>
          </a:xfrm>
          <a:prstGeom prst="roundRect">
            <a:avLst>
              <a:gd name="adj" fmla="val 4103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0" y="2788920"/>
            <a:ext cx="3749040" cy="54864"/>
          </a:xfrm>
          <a:prstGeom prst="roundRect">
            <a:avLst/>
          </a:prstGeom>
          <a:solidFill>
            <a:srgbClr val="7A8EA3"/>
          </a:solidFill>
          <a:ln/>
        </p:spPr>
      </p:sp>
      <p:sp>
        <p:nvSpPr>
          <p:cNvPr id="37" name="Text 35"/>
          <p:cNvSpPr/>
          <p:nvPr/>
        </p:nvSpPr>
        <p:spPr>
          <a:xfrm>
            <a:off x="8357616" y="2880360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vue-demo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357616" y="3209544"/>
            <a:ext cx="1234440" cy="219456"/>
          </a:xfrm>
          <a:prstGeom prst="roundRect">
            <a:avLst>
              <a:gd name="adj" fmla="val 16667"/>
            </a:avLst>
          </a:prstGeom>
          <a:solidFill>
            <a:srgbClr val="7A8EA3"/>
          </a:solidFill>
          <a:ln/>
        </p:spPr>
      </p:sp>
      <p:sp>
        <p:nvSpPr>
          <p:cNvPr id="39" name="Text 37"/>
          <p:cNvSpPr/>
          <p:nvPr/>
        </p:nvSpPr>
        <p:spPr>
          <a:xfrm>
            <a:off x="8357616" y="3209544"/>
            <a:ext cx="12344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Vue 3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357616" y="352044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前端接入示例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6B7D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演示 frontend-sdk 用法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7432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484632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43" name="Text 41"/>
          <p:cNvSpPr/>
          <p:nvPr/>
        </p:nvSpPr>
        <p:spPr>
          <a:xfrm>
            <a:off x="40233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H2 / Oracle DB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0233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6张表：ff_flag / ff_flag_config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ff_rule / ff_config_snapshot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ff_application / ff_change_event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5196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4846320"/>
            <a:ext cx="3749040" cy="54864"/>
          </a:xfrm>
          <a:prstGeom prst="roundRect">
            <a:avLst/>
          </a:prstGeom>
          <a:solidFill>
            <a:srgbClr val="8A3D3D"/>
          </a:solidFill>
          <a:ln/>
        </p:spPr>
      </p:sp>
      <p:sp>
        <p:nvSpPr>
          <p:cNvPr id="47" name="Text 45"/>
          <p:cNvSpPr/>
          <p:nvPr/>
        </p:nvSpPr>
        <p:spPr>
          <a:xfrm>
            <a:off x="437997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1A1A"/>
                </a:solidFill>
              </a:rPr>
              <a:t>Redis Cluster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7997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分布式快照缓存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TTL 5min，3主3从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229600" y="4846320"/>
            <a:ext cx="3749040" cy="914400"/>
          </a:xfrm>
          <a:prstGeom prst="roundRect">
            <a:avLst>
              <a:gd name="adj" fmla="val 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29600" y="484632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51" name="Text 49"/>
          <p:cNvSpPr/>
          <p:nvPr/>
        </p:nvSpPr>
        <p:spPr>
          <a:xfrm>
            <a:off x="8357616" y="4937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3F10"/>
                </a:solidFill>
              </a:rPr>
              <a:t>CDN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357616" y="5248656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JSON 静态加速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ETag 60s / 就近回源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两平面分离架构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13232"/>
            <a:ext cx="5394960" cy="5440680"/>
          </a:xfrm>
          <a:prstGeom prst="rect">
            <a:avLst/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4980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控制面  Control Plane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675120" y="713232"/>
            <a:ext cx="5303520" cy="5440680"/>
          </a:xfrm>
          <a:prstGeom prst="rect">
            <a:avLst/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74980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5C"/>
                </a:solidFill>
              </a:rPr>
              <a:t>数据面  Data Plane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11704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1704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3 SPA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624328" y="21762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2" name="Shape 10"/>
          <p:cNvSpPr/>
          <p:nvPr/>
        </p:nvSpPr>
        <p:spPr>
          <a:xfrm>
            <a:off x="411480" y="25420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Boot 3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2624328" y="35478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" y="39136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9136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 DB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Oracle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903720" y="11704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03720" y="11704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frontend-sdk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482328" y="21762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0" name="Shape 18"/>
          <p:cNvSpPr/>
          <p:nvPr/>
        </p:nvSpPr>
        <p:spPr>
          <a:xfrm>
            <a:off x="6903720" y="25420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03720" y="25420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java-sdk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482328" y="3547872"/>
            <a:ext cx="201168" cy="34747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913632"/>
            <a:ext cx="4937760" cy="1005840"/>
          </a:xfrm>
          <a:prstGeom prst="roundRect">
            <a:avLst>
              <a:gd name="adj" fmla="val 818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391363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EvaluationEngine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SnapshotCache（JVM 内存）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596128" y="2103120"/>
            <a:ext cx="1051560" cy="274320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2423160"/>
            <a:ext cx="1188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Publish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Snapshot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96128" y="3383280"/>
            <a:ext cx="1051560" cy="274320"/>
          </a:xfrm>
          <a:prstGeom prst="rightArrow">
            <a:avLst/>
          </a:prstGeom>
          <a:solidFill>
            <a:srgbClr val="3572A0"/>
          </a:solidFill>
          <a:ln/>
        </p:spPr>
      </p:sp>
      <p:sp>
        <p:nvSpPr>
          <p:cNvPr id="28" name="Text 26"/>
          <p:cNvSpPr/>
          <p:nvPr/>
        </p:nvSpPr>
        <p:spPr>
          <a:xfrm>
            <a:off x="5513832" y="369417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D5C"/>
                </a:solidFill>
              </a:rPr>
              <a:t>GET Snapshot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D5C"/>
                </a:solidFill>
              </a:rPr>
              <a:t>HTTP / CDN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0040" y="5257800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创建 / 更新 Flag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配置规则 &amp; 条件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环境升级 &amp; 审批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• 发布 Snapshot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12280" y="5257800"/>
            <a:ext cx="51206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加载最新 Snapshot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执行评估决策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返回 enabled + reasonCode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• 本地缓存 30s 降级兜底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数据流图 — 从配置到评估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11795760" cy="256032"/>
          </a:xfrm>
          <a:prstGeom prst="rect">
            <a:avLst/>
          </a:prstGeom>
          <a:solidFill>
            <a:srgbClr val="EBF0F6"/>
          </a:solidFill>
          <a:ln w="1016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58952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① 写路径（配置 → 发布）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工程师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操作控制台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618488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0" name="Text 8"/>
          <p:cNvSpPr/>
          <p:nvPr/>
        </p:nvSpPr>
        <p:spPr>
          <a:xfrm>
            <a:off x="1618488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操作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938528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38528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web-admin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28416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4" name="Text 12"/>
          <p:cNvSpPr/>
          <p:nvPr/>
        </p:nvSpPr>
        <p:spPr>
          <a:xfrm>
            <a:off x="3328416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REST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648456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48456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38344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8" name="Text 16"/>
          <p:cNvSpPr/>
          <p:nvPr/>
        </p:nvSpPr>
        <p:spPr>
          <a:xfrm>
            <a:off x="5038344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写入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358384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58384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6张表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8272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2" name="Text 20"/>
          <p:cNvSpPr/>
          <p:nvPr/>
        </p:nvSpPr>
        <p:spPr>
          <a:xfrm>
            <a:off x="6748272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刷新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068312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68312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JVM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458200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6" name="Text 24"/>
          <p:cNvSpPr/>
          <p:nvPr/>
        </p:nvSpPr>
        <p:spPr>
          <a:xfrm>
            <a:off x="8458200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推送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8778240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分布式缓存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68128" y="1408176"/>
            <a:ext cx="31089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0" name="Text 28"/>
          <p:cNvSpPr/>
          <p:nvPr/>
        </p:nvSpPr>
        <p:spPr>
          <a:xfrm>
            <a:off x="10168128" y="1847088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失效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10488168" y="1078992"/>
            <a:ext cx="1389888" cy="749808"/>
          </a:xfrm>
          <a:prstGeom prst="roundRect">
            <a:avLst>
              <a:gd name="adj" fmla="val 1097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488168" y="1078992"/>
            <a:ext cx="138988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失效推送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2084832"/>
            <a:ext cx="11795760" cy="256032"/>
          </a:xfrm>
          <a:prstGeom prst="rect">
            <a:avLst/>
          </a:prstGeom>
          <a:solidFill>
            <a:srgbClr val="E6EFF8"/>
          </a:solidFill>
          <a:ln w="10160">
            <a:solidFill>
              <a:srgbClr val="3572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" y="2093976"/>
            <a:ext cx="6400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D5C"/>
                </a:solidFill>
              </a:rPr>
              <a:t>② Snapshot 结构（不可变）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82880" y="2377440"/>
            <a:ext cx="11795760" cy="1188720"/>
          </a:xfrm>
          <a:prstGeom prst="roundRect">
            <a:avLst>
              <a:gd name="adj" fmla="val 6154"/>
            </a:avLst>
          </a:prstGeom>
          <a:solidFill>
            <a:srgbClr val="1A2535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432304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"appKey": "vue-demo",  "environment": "prod",  "version": 42,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2688336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"checksum": "sha256:abcdef...",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2944368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"flags": [ { "flagKey": "new-checkout", "enabled": true, "releaseKey": "20260520",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320040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"rules": [ { "conditionJson": {"region":["Asia"]}, "rolloutPercentage": 80 } ] } ] }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82880" y="3657600"/>
            <a:ext cx="11795760" cy="256032"/>
          </a:xfrm>
          <a:prstGeom prst="rect">
            <a:avLst/>
          </a:prstGeom>
          <a:solidFill>
            <a:srgbClr val="E5EFEA"/>
          </a:solidFill>
          <a:ln w="10160">
            <a:solidFill>
              <a:srgbClr val="3D6E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666744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③ 读路径（SDK 评估，热路径 P99 &lt; 5ms）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92608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92608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业务代码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调用 SDK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865376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45" name="Text 43"/>
          <p:cNvSpPr/>
          <p:nvPr/>
        </p:nvSpPr>
        <p:spPr>
          <a:xfrm>
            <a:off x="1865376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2231136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231136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SDK 内存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30s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803904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49" name="Text 47"/>
          <p:cNvSpPr/>
          <p:nvPr/>
        </p:nvSpPr>
        <p:spPr>
          <a:xfrm>
            <a:off x="3803904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169664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169664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CDN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ETag 60s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742432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53" name="Text 51"/>
          <p:cNvSpPr/>
          <p:nvPr/>
        </p:nvSpPr>
        <p:spPr>
          <a:xfrm>
            <a:off x="5742432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108192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108192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JVM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SnapshotCache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680960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57" name="Text 55"/>
          <p:cNvSpPr/>
          <p:nvPr/>
        </p:nvSpPr>
        <p:spPr>
          <a:xfrm>
            <a:off x="7680960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8046720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046720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Redis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TTL 5min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619488" y="4315968"/>
            <a:ext cx="347472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61" name="Text 59"/>
          <p:cNvSpPr/>
          <p:nvPr/>
        </p:nvSpPr>
        <p:spPr>
          <a:xfrm>
            <a:off x="9619488" y="4535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D93"/>
                </a:solidFill>
              </a:rPr>
              <a:t>miss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985248" y="3986784"/>
            <a:ext cx="1572768" cy="749808"/>
          </a:xfrm>
          <a:prstGeom prst="roundRect">
            <a:avLst>
              <a:gd name="adj" fmla="val 1097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985248" y="3986784"/>
            <a:ext cx="15727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L5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最终兜底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82880" y="4892040"/>
            <a:ext cx="117957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0040" y="4956048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④ 评估结果：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719072" y="4956048"/>
            <a:ext cx="10058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flagKey, enabled: true/false, reasonCode, matchedRuleId, snapshotVersion, releaseKey }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320040" y="5212080"/>
            <a:ext cx="11430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控制面故障时 SDK 继续使用上一个有效 Snapshot（Stale-if-Error）；数据面完全独立于控制面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评估引擎 — 决策流程 &amp; 哈希分桶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评估决策树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06070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evaluate(snapshot, flagKey, ctx)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020824" y="151790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1627632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627632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 存在？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020824" y="2084832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2212848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1284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flag.enabled = true？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020824" y="2670048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279806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79806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遍历 rules（priority 升序）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020824" y="325526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18" name="Shape 16"/>
          <p:cNvSpPr/>
          <p:nvPr/>
        </p:nvSpPr>
        <p:spPr>
          <a:xfrm>
            <a:off x="274320" y="3401568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40156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条件匹配？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20824" y="3858768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986784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986784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bucket &lt; rollout%？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020824" y="4443984"/>
            <a:ext cx="201168" cy="237744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24" name="Shape 22"/>
          <p:cNvSpPr/>
          <p:nvPr/>
        </p:nvSpPr>
        <p:spPr>
          <a:xfrm>
            <a:off x="274320" y="4572000"/>
            <a:ext cx="3886200" cy="457200"/>
          </a:xfrm>
          <a:prstGeom prst="roundRect">
            <a:avLst>
              <a:gd name="adj" fmla="val 18000"/>
            </a:avLst>
          </a:prstGeom>
          <a:solidFill>
            <a:srgbClr val="E5EFEA"/>
          </a:solidFill>
          <a:ln w="15240">
            <a:solidFill>
              <a:srgbClr val="3D6E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57200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C3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RULE_MATCH  enabled=true ✅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160520" y="1280160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7" name="Shape 25"/>
          <p:cNvSpPr/>
          <p:nvPr/>
        </p:nvSpPr>
        <p:spPr>
          <a:xfrm>
            <a:off x="4572000" y="1188720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118872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FLAG_NOT_FOUND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60520" y="1865376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0" y="1773936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773936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FLAG_DISABLED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160520" y="3621024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3" name="Shape 31"/>
          <p:cNvSpPr/>
          <p:nvPr/>
        </p:nvSpPr>
        <p:spPr>
          <a:xfrm>
            <a:off x="4572000" y="3529584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3529584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DEFAULT_VALUE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160520" y="4206240"/>
            <a:ext cx="402336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4114800"/>
            <a:ext cx="2377440" cy="402336"/>
          </a:xfrm>
          <a:prstGeom prst="roundRect">
            <a:avLst>
              <a:gd name="adj" fmla="val 2045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41148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ROLLOUT_NOT_INCLUDED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223760" y="749808"/>
            <a:ext cx="4754880" cy="5486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23760" y="749808"/>
            <a:ext cx="47548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0" name="Text 38"/>
          <p:cNvSpPr/>
          <p:nvPr/>
        </p:nvSpPr>
        <p:spPr>
          <a:xfrm>
            <a:off x="7315200" y="76809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跨语言哈希分桶算法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7360920" y="1170432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A2535"/>
          </a:solidFill>
          <a:ln/>
        </p:spPr>
      </p:sp>
      <p:sp>
        <p:nvSpPr>
          <p:cNvPr id="42" name="Text 40"/>
          <p:cNvSpPr/>
          <p:nvPr/>
        </p:nvSpPr>
        <p:spPr>
          <a:xfrm>
            <a:off x="7360920" y="11704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bucket = SHA-256(flagKey + ":" + subjectKey)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360920" y="1682496"/>
            <a:ext cx="4480560" cy="457200"/>
          </a:xfrm>
          <a:prstGeom prst="roundRect">
            <a:avLst>
              <a:gd name="adj" fmla="val 12000"/>
            </a:avLst>
          </a:prstGeom>
          <a:solidFill>
            <a:srgbClr val="1A2535"/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16824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5C8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[0..3] as BigEndian uint32  mod 100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7360920" y="22494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60920" y="22494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结果范围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98280" y="22951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0 – 99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7360920" y="27066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360920" y="27066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哈希算法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098280" y="27523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SHA-256 前 4 字节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7360920" y="31638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60920" y="31638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字节序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098280" y="32095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Big-Endian uint32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360920" y="36210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60920" y="36210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语言一致性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9098280" y="36667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Java / TS / Go / Python 结果相同</a:t>
            </a:r>
            <a:endParaRPr lang="en-US" sz="1050" dirty="0"/>
          </a:p>
        </p:txBody>
      </p:sp>
      <p:sp>
        <p:nvSpPr>
          <p:cNvPr id="57" name="Shape 55"/>
          <p:cNvSpPr/>
          <p:nvPr/>
        </p:nvSpPr>
        <p:spPr>
          <a:xfrm>
            <a:off x="7360920" y="4078224"/>
            <a:ext cx="1691640" cy="347472"/>
          </a:xfrm>
          <a:prstGeom prst="rect">
            <a:avLst/>
          </a:prstGeom>
          <a:solidFill>
            <a:srgbClr val="E6EFF8"/>
          </a:solidFill>
          <a:ln w="8890">
            <a:solidFill>
              <a:srgbClr val="C8D2D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60920" y="4078224"/>
            <a:ext cx="1691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</a:rPr>
              <a:t>稳定性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098280" y="412394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相同输入永远落同一桶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360920" y="4608576"/>
            <a:ext cx="4480560" cy="1371600"/>
          </a:xfrm>
          <a:prstGeom prst="rect">
            <a:avLst/>
          </a:prstGeom>
          <a:solidFill>
            <a:srgbClr val="F3F5F8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452360" y="46451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3F55"/>
                </a:solidFill>
              </a:rPr>
              <a:t>conditionJson 匹配规则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7452360" y="493776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region: "Asia"         → 精确匹配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7452360" y="5184648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region: ["Asia","EU"]  → 包含匹配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7452360" y="5431536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null / 空              → 不限制（总匹配）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7452360" y="5678424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2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多字段                 → AND 逻辑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环境升级流程 — 渐进式发布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68580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4884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100%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83464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29768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3" name="Shape 11"/>
          <p:cNvSpPr/>
          <p:nvPr/>
        </p:nvSpPr>
        <p:spPr>
          <a:xfrm>
            <a:off x="292608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14" name="Text 12"/>
          <p:cNvSpPr/>
          <p:nvPr/>
        </p:nvSpPr>
        <p:spPr>
          <a:xfrm>
            <a:off x="292608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100%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98348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492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100%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3232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595360" y="1371600"/>
            <a:ext cx="685800" cy="201168"/>
          </a:xfrm>
          <a:prstGeom prst="rightArrow">
            <a:avLst/>
          </a:prstGeom>
          <a:solidFill>
            <a:srgbClr val="7A8EA3"/>
          </a:solidFill>
          <a:ln/>
        </p:spPr>
      </p:sp>
      <p:sp>
        <p:nvSpPr>
          <p:cNvPr id="23" name="Shape 21"/>
          <p:cNvSpPr/>
          <p:nvPr/>
        </p:nvSpPr>
        <p:spPr>
          <a:xfrm>
            <a:off x="722376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3D6E50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100%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281160" y="1188720"/>
            <a:ext cx="1463040" cy="566928"/>
          </a:xfrm>
          <a:prstGeom prst="roundRect">
            <a:avLst>
              <a:gd name="adj" fmla="val 50000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81160" y="1188720"/>
            <a:ext cx="1463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9372600" y="1883664"/>
            <a:ext cx="1280160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28" name="Text 26"/>
          <p:cNvSpPr/>
          <p:nvPr/>
        </p:nvSpPr>
        <p:spPr>
          <a:xfrm>
            <a:off x="9372600" y="1883664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 10%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915400" y="804672"/>
            <a:ext cx="1691640" cy="749808"/>
          </a:xfrm>
          <a:prstGeom prst="roundRect">
            <a:avLst>
              <a:gd name="adj" fmla="val 975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15400" y="804672"/>
            <a:ext cx="16916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⛔ Approve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必须审批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2359152"/>
            <a:ext cx="548640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2359152"/>
            <a:ext cx="5486400" cy="310896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3" name="Text 31"/>
          <p:cNvSpPr/>
          <p:nvPr/>
        </p:nvSpPr>
        <p:spPr>
          <a:xfrm>
            <a:off x="402336" y="237744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非 prod 环境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2779776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2798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Config — 保存 Flag 配置 + 规则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438144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3456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— 生成 Snapshot，版本号 +1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57200" y="4096512"/>
            <a:ext cx="292608" cy="292608"/>
          </a:xfrm>
          <a:prstGeom prst="ellipse">
            <a:avLst/>
          </a:prstGeom>
          <a:solidFill>
            <a:srgbClr val="3572A0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22960" y="41148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通过 ETag 拉取最新 Snapshot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0" y="2359152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0" y="2359152"/>
            <a:ext cx="5577840" cy="310896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45" name="Text 43"/>
          <p:cNvSpPr/>
          <p:nvPr/>
        </p:nvSpPr>
        <p:spPr>
          <a:xfrm>
            <a:off x="6528816" y="237744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prod 环境（需 Approve）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583680" y="2779776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47" name="Text 45"/>
          <p:cNvSpPr/>
          <p:nvPr/>
        </p:nvSpPr>
        <p:spPr>
          <a:xfrm>
            <a:off x="6583680" y="27797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949440" y="2798064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Config — 保存 Flag 配置 + 规则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6583680" y="3438144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50" name="Text 48"/>
          <p:cNvSpPr/>
          <p:nvPr/>
        </p:nvSpPr>
        <p:spPr>
          <a:xfrm>
            <a:off x="6583680" y="3438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49440" y="3456432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— 审批人确认（prod 必须）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583680" y="4096512"/>
            <a:ext cx="292608" cy="292608"/>
          </a:xfrm>
          <a:prstGeom prst="ellipse">
            <a:avLst/>
          </a:prstGeom>
          <a:solidFill>
            <a:srgbClr val="8A3D3D"/>
          </a:solidFill>
          <a:ln/>
        </p:spPr>
      </p:sp>
      <p:sp>
        <p:nvSpPr>
          <p:cNvPr id="53" name="Text 51"/>
          <p:cNvSpPr/>
          <p:nvPr/>
        </p:nvSpPr>
        <p:spPr>
          <a:xfrm>
            <a:off x="6583680" y="40965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949440" y="411480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— 生成快照 + 推送 CDN 失效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5376672"/>
            <a:ext cx="11704320" cy="658368"/>
          </a:xfrm>
          <a:prstGeom prst="rect">
            <a:avLst/>
          </a:prstGeom>
          <a:solidFill>
            <a:srgbClr val="F2E8E8"/>
          </a:solidFill>
          <a:ln w="12700">
            <a:solidFill>
              <a:srgbClr val="8A3D3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5431536"/>
            <a:ext cx="3200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1A1A"/>
                </a:solidFill>
              </a:rPr>
              <a:t>🚨 紧急回滚（Kill Switch）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705856"/>
            <a:ext cx="11338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setEnabled(false) 或 setRollout(0) → 立即重新发布 Snapshot → SDK 在 30s 内生效（TTL 内存缓存）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多级缓存架构 — L1 至 L5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1338560" cy="713232"/>
          </a:xfrm>
          <a:prstGeom prst="roundRect">
            <a:avLst>
              <a:gd name="adj" fmla="val 7692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22960"/>
            <a:ext cx="54864" cy="713232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822960"/>
            <a:ext cx="702990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D5C"/>
                </a:solidFill>
              </a:rPr>
              <a:t>L1  SDK 内存缓存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30998" y="822960"/>
            <a:ext cx="38551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572A0"/>
                </a:solidFill>
              </a:rPr>
              <a:t>TTL 30s · 进程内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577840" y="15544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005840" y="1737360"/>
            <a:ext cx="9875520" cy="713232"/>
          </a:xfrm>
          <a:prstGeom prst="roundRect">
            <a:avLst>
              <a:gd name="adj" fmla="val 7692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737360"/>
            <a:ext cx="54864" cy="713232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1737360"/>
            <a:ext cx="612282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3F10"/>
                </a:solidFill>
              </a:rPr>
              <a:t>L2  CDN 缓存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26173" y="1737360"/>
            <a:ext cx="3357677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7230"/>
                </a:solidFill>
              </a:rPr>
              <a:t>TTL 60s · ETag 条件请求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577840" y="24688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737360" y="2651760"/>
            <a:ext cx="8412480" cy="713232"/>
          </a:xfrm>
          <a:prstGeom prst="roundRect">
            <a:avLst>
              <a:gd name="adj" fmla="val 7692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2651760"/>
            <a:ext cx="54864" cy="713232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7" name="Text 15"/>
          <p:cNvSpPr/>
          <p:nvPr/>
        </p:nvSpPr>
        <p:spPr>
          <a:xfrm>
            <a:off x="1874520" y="2651760"/>
            <a:ext cx="521573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F42"/>
                </a:solidFill>
              </a:rPr>
              <a:t>L3  SnapshotCache（JVM）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121347" y="2651760"/>
            <a:ext cx="286024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567A"/>
                </a:solidFill>
              </a:rPr>
              <a:t>ConcurrentHashMap · 热路径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577840" y="33832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68880" y="3566160"/>
            <a:ext cx="6949440" cy="713232"/>
          </a:xfrm>
          <a:prstGeom prst="roundRect">
            <a:avLst>
              <a:gd name="adj" fmla="val 7692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468880" y="3566160"/>
            <a:ext cx="54864" cy="713232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22" name="Text 20"/>
          <p:cNvSpPr/>
          <p:nvPr/>
        </p:nvSpPr>
        <p:spPr>
          <a:xfrm>
            <a:off x="2606040" y="3566160"/>
            <a:ext cx="4308653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1A1A"/>
                </a:solidFill>
              </a:rPr>
              <a:t>L4  Redis 分布式缓存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16522" y="3566160"/>
            <a:ext cx="236281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3D3D"/>
                </a:solidFill>
              </a:rPr>
              <a:t>TTL 5min · 3主3从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77840" y="4297680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D93"/>
                </a:solidFill>
              </a:rPr>
              <a:t>↓ miss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4480560"/>
            <a:ext cx="5486400" cy="713232"/>
          </a:xfrm>
          <a:prstGeom prst="roundRect">
            <a:avLst>
              <a:gd name="adj" fmla="val 7692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4480560"/>
            <a:ext cx="54864" cy="713232"/>
          </a:xfrm>
          <a:prstGeom prst="rect">
            <a:avLst/>
          </a:prstGeom>
          <a:solidFill>
            <a:srgbClr val="7A8EA3"/>
          </a:solidFill>
          <a:ln/>
        </p:spPr>
      </p:sp>
      <p:sp>
        <p:nvSpPr>
          <p:cNvPr id="27" name="Text 25"/>
          <p:cNvSpPr/>
          <p:nvPr/>
        </p:nvSpPr>
        <p:spPr>
          <a:xfrm>
            <a:off x="3337560" y="4480560"/>
            <a:ext cx="34015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A4A5A"/>
                </a:solidFill>
              </a:rPr>
              <a:t>L5  数据库（Oracle / H2）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711696" y="4480560"/>
            <a:ext cx="18653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EA3"/>
                </a:solidFill>
              </a:rPr>
              <a:t>最终数据源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818120" y="804672"/>
            <a:ext cx="42062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818120" y="804672"/>
            <a:ext cx="42062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1" name="Text 29"/>
          <p:cNvSpPr/>
          <p:nvPr/>
        </p:nvSpPr>
        <p:spPr>
          <a:xfrm>
            <a:off x="790956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缓存策略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909560" y="1225296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0" y="1225296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4" name="Text 32"/>
          <p:cNvSpPr/>
          <p:nvPr/>
        </p:nvSpPr>
        <p:spPr>
          <a:xfrm>
            <a:off x="7973568" y="1280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Write-Through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973568" y="1572768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Publish 同时写 DB + 刷新 SnapshotCache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+ 推送 CDN 失效，保证缓存一致性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909560" y="2267712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909560" y="2267712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8" name="Text 36"/>
          <p:cNvSpPr/>
          <p:nvPr/>
        </p:nvSpPr>
        <p:spPr>
          <a:xfrm>
            <a:off x="7973568" y="232257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ETag 条件请求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73568" y="2615184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携带 If-None-Match: v42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服务端返回 304 Not Modified 节省带宽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909560" y="3310128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909560" y="3310128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2" name="Text 40"/>
          <p:cNvSpPr/>
          <p:nvPr/>
        </p:nvSpPr>
        <p:spPr>
          <a:xfrm>
            <a:off x="7973568" y="3364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Stale-if-Error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973568" y="3657600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控制面 / L3 / L4 不可用时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继续使用上一个有效快照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909560" y="4352544"/>
            <a:ext cx="4005072" cy="877824"/>
          </a:xfrm>
          <a:prstGeom prst="roundRect">
            <a:avLst>
              <a:gd name="adj" fmla="val 6250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09560" y="4352544"/>
            <a:ext cx="36576" cy="877824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6" name="Text 44"/>
          <p:cNvSpPr/>
          <p:nvPr/>
        </p:nvSpPr>
        <p:spPr>
          <a:xfrm>
            <a:off x="7973568" y="4407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版本单调递增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73568" y="4700016"/>
            <a:ext cx="38404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Snapshot.version 单调递增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旧版本 SDK 不覆盖新版本缓存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5870448"/>
            <a:ext cx="7315200" cy="594360"/>
          </a:xfrm>
          <a:prstGeom prst="rect">
            <a:avLst/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59070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🎯 命中率目标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28600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L1: 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274320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95%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02336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L2: 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48056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90%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76072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L3: 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21792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&gt; 99%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498080" y="5907024"/>
            <a:ext cx="822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DB 直查: 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7955280" y="5907024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&lt; 0.1%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7818120" y="5907024"/>
            <a:ext cx="4206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告警：miss rate &gt; 20%  或  版本落后 &gt; 5min 触发告警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部署规格 &amp; 单 Region 高可用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27432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K8S 部署规格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74320" y="1060704"/>
            <a:ext cx="23774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60704"/>
            <a:ext cx="2377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组件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651760" y="1060704"/>
            <a:ext cx="10972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9" name="Text 7"/>
          <p:cNvSpPr/>
          <p:nvPr/>
        </p:nvSpPr>
        <p:spPr>
          <a:xfrm>
            <a:off x="2651760" y="1060704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Replicas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49040" y="1060704"/>
            <a:ext cx="146304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11" name="Text 9"/>
          <p:cNvSpPr/>
          <p:nvPr/>
        </p:nvSpPr>
        <p:spPr>
          <a:xfrm>
            <a:off x="3749040" y="1060704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HPA 策略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060704"/>
            <a:ext cx="132588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1060704"/>
            <a:ext cx="1325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资源配额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1371600"/>
            <a:ext cx="23774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716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backend（control）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651760" y="1371600"/>
            <a:ext cx="10972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371600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1371600"/>
            <a:ext cx="14630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137160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212080" y="1371600"/>
            <a:ext cx="13258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0" y="137160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1C / 1G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00784"/>
            <a:ext cx="23774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70078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evaluation-service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651760" y="1700784"/>
            <a:ext cx="10972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1700784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3 – 10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700784"/>
            <a:ext cx="14630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7007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CPU &gt; 60%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1700784"/>
            <a:ext cx="13258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0" y="17007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0.5C / 512M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029968"/>
            <a:ext cx="23774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02996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web-admin（nginx）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2029968"/>
            <a:ext cx="10972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51760" y="2029968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749040" y="2029968"/>
            <a:ext cx="146304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49040" y="202996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212080" y="2029968"/>
            <a:ext cx="1325880" cy="329184"/>
          </a:xfrm>
          <a:prstGeom prst="rect">
            <a:avLst/>
          </a:prstGeom>
          <a:solidFill>
            <a:srgbClr val="FFFFFF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12080" y="202996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0.2C / 256M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359152"/>
            <a:ext cx="23774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35915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Redis Cluster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651760" y="2359152"/>
            <a:ext cx="10972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651760" y="2359152"/>
            <a:ext cx="10972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3M+3S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749040" y="2359152"/>
            <a:ext cx="146304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749040" y="2359152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—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212080" y="2359152"/>
            <a:ext cx="1325880" cy="329184"/>
          </a:xfrm>
          <a:prstGeom prst="rect">
            <a:avLst/>
          </a:prstGeom>
          <a:solidFill>
            <a:srgbClr val="F3F5F8"/>
          </a:solidFill>
          <a:ln w="7620">
            <a:solidFill>
              <a:srgbClr val="C8D2D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12080" y="235915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C2B3A"/>
                </a:solidFill>
              </a:rPr>
              <a:t>2C / 4G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798064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2798064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ConfigMap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2697480" y="283464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环境变量、数据库连接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274320" y="3127248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0" name="Text 48"/>
          <p:cNvSpPr/>
          <p:nvPr/>
        </p:nvSpPr>
        <p:spPr>
          <a:xfrm>
            <a:off x="274320" y="3127248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2697480" y="316382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DB 密码、JWT 密钥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274320" y="3456432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3456432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PodDisruptionBudget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2697480" y="349300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滚动更新至少 1 实例可用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274320" y="3785616"/>
            <a:ext cx="2331720" cy="256032"/>
          </a:xfrm>
          <a:prstGeom prst="roundRect">
            <a:avLst>
              <a:gd name="adj" fmla="val 25000"/>
            </a:avLst>
          </a:prstGeom>
          <a:solidFill>
            <a:srgbClr val="3572A0"/>
          </a:solidFill>
          <a:ln/>
        </p:spPr>
      </p:sp>
      <p:sp>
        <p:nvSpPr>
          <p:cNvPr id="56" name="Text 54"/>
          <p:cNvSpPr/>
          <p:nvPr/>
        </p:nvSpPr>
        <p:spPr>
          <a:xfrm>
            <a:off x="274320" y="37856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697480" y="382219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evaluation-service 弹性 3–10 副本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74320" y="4169664"/>
            <a:ext cx="6400800" cy="713232"/>
          </a:xfrm>
          <a:prstGeom prst="rect">
            <a:avLst/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3E2A"/>
                </a:solidFill>
              </a:rPr>
              <a:t>SLA 指标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可用性: 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8872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99.99%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256032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Evaluation P99: 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329184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&lt; 5ms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4663440" y="449884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刷新: 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394960" y="449884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3E2A"/>
                </a:solidFill>
              </a:rPr>
              <a:t>&lt; 30s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6858000" y="749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单 Region 高可用架构</a:t>
            </a:r>
            <a:endParaRPr lang="en-US" sz="1250" dirty="0"/>
          </a:p>
        </p:txBody>
      </p:sp>
      <p:sp>
        <p:nvSpPr>
          <p:cNvPr id="67" name="Shape 65"/>
          <p:cNvSpPr/>
          <p:nvPr/>
        </p:nvSpPr>
        <p:spPr>
          <a:xfrm>
            <a:off x="8686800" y="1078992"/>
            <a:ext cx="1371600" cy="420624"/>
          </a:xfrm>
          <a:prstGeom prst="roundRect">
            <a:avLst>
              <a:gd name="adj" fmla="val 19565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86800" y="1078992"/>
            <a:ext cx="1371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Internet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321040" y="1682496"/>
            <a:ext cx="2103120" cy="420624"/>
          </a:xfrm>
          <a:prstGeom prst="roundRect">
            <a:avLst>
              <a:gd name="adj" fmla="val 195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321040" y="1682496"/>
            <a:ext cx="21031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防火墙 Firewall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903720" y="2304288"/>
            <a:ext cx="1463040" cy="420624"/>
          </a:xfrm>
          <a:prstGeom prst="roundRect">
            <a:avLst>
              <a:gd name="adj" fmla="val 195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903720" y="2304288"/>
            <a:ext cx="1463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8503920" y="2304288"/>
            <a:ext cx="2011680" cy="420624"/>
          </a:xfrm>
          <a:prstGeom prst="roundRect">
            <a:avLst>
              <a:gd name="adj" fmla="val 195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503920" y="2304288"/>
            <a:ext cx="20116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Gateway（多实例）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6766560" y="2944368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766560" y="294436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Plane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 2 replicas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9235440" y="2944368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235440" y="294436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HPA 3–10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766560" y="3767328"/>
            <a:ext cx="2194560" cy="566928"/>
          </a:xfrm>
          <a:prstGeom prst="roundRect">
            <a:avLst>
              <a:gd name="adj" fmla="val 14516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0" y="3767328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3M + 3S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9235440" y="3767328"/>
            <a:ext cx="2560320" cy="566928"/>
          </a:xfrm>
          <a:prstGeom prst="roundRect">
            <a:avLst>
              <a:gd name="adj" fmla="val 14516"/>
            </a:avLst>
          </a:prstGeom>
          <a:solidFill>
            <a:srgbClr val="ECEEF1"/>
          </a:solidFill>
          <a:ln w="15240">
            <a:solidFill>
              <a:srgbClr val="7A8EA3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235440" y="3767328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Primary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4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Replica ×2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253728" y="1499616"/>
            <a:ext cx="201168" cy="18288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4" name="Shape 82"/>
          <p:cNvSpPr/>
          <p:nvPr/>
        </p:nvSpPr>
        <p:spPr>
          <a:xfrm>
            <a:off x="9253728" y="2103120"/>
            <a:ext cx="201168" cy="20116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5" name="Shape 83"/>
          <p:cNvSpPr/>
          <p:nvPr/>
        </p:nvSpPr>
        <p:spPr>
          <a:xfrm>
            <a:off x="7699248" y="2788920"/>
            <a:ext cx="201168" cy="15544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6" name="Shape 84"/>
          <p:cNvSpPr/>
          <p:nvPr/>
        </p:nvSpPr>
        <p:spPr>
          <a:xfrm>
            <a:off x="10259568" y="2788920"/>
            <a:ext cx="201168" cy="155448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7" name="Shape 85"/>
          <p:cNvSpPr/>
          <p:nvPr/>
        </p:nvSpPr>
        <p:spPr>
          <a:xfrm>
            <a:off x="7699248" y="3511296"/>
            <a:ext cx="201168" cy="256032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88" name="Shape 86"/>
          <p:cNvSpPr/>
          <p:nvPr/>
        </p:nvSpPr>
        <p:spPr>
          <a:xfrm>
            <a:off x="10259568" y="3511296"/>
            <a:ext cx="201168" cy="256032"/>
          </a:xfrm>
          <a:prstGeom prst="downArrow">
            <a:avLst/>
          </a:prstGeom>
          <a:solidFill>
            <a:srgbClr val="7A8EA3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多地部署 &amp; 灾备设计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5349240" cy="4937760"/>
          </a:xfrm>
          <a:prstGeom prst="rect">
            <a:avLst/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86384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2F42"/>
                </a:solidFill>
              </a:rPr>
              <a:t>🏢 主数据中心（Active）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720840" y="749808"/>
            <a:ext cx="5257800" cy="4937760"/>
          </a:xfrm>
          <a:prstGeom prst="rect">
            <a:avLst/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0" y="78638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D5C"/>
                </a:solidFill>
              </a:rPr>
              <a:t>🏢 灾备中心（Standby/Active）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" y="1170432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170432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集群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Evaluation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" y="2157984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2157984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Primary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（同步复制 →）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7472" y="3145536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3145536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（异步复制 →）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47472" y="4133088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4133088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节点 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就近回源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76288" y="1170432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6288" y="1170432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K8S 集群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A3D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 + Evaluation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876288" y="2157984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76288" y="2157984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Replica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D2F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（可提升为 Primary）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76288" y="3145536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2E8E8"/>
          </a:solidFill>
          <a:ln w="15240">
            <a:solidFill>
              <a:srgbClr val="8A3D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76288" y="3145536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 Cluster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4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（异步复制）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76288" y="4133088"/>
            <a:ext cx="5029200" cy="786384"/>
          </a:xfrm>
          <a:prstGeom prst="roundRect">
            <a:avLst>
              <a:gd name="adj" fmla="val 10465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76288" y="4133088"/>
            <a:ext cx="502920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CDN 节点 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5A3F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就近回源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394960" y="1609344"/>
            <a:ext cx="1280160" cy="201168"/>
          </a:xfrm>
          <a:prstGeom prst="rightArrow">
            <a:avLst/>
          </a:prstGeom>
          <a:solidFill>
            <a:srgbClr val="3A567A"/>
          </a:solidFill>
          <a:ln/>
        </p:spPr>
      </p:sp>
      <p:sp>
        <p:nvSpPr>
          <p:cNvPr id="26" name="Text 24"/>
          <p:cNvSpPr/>
          <p:nvPr/>
        </p:nvSpPr>
        <p:spPr>
          <a:xfrm>
            <a:off x="5376672" y="1865376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2F42"/>
                </a:solidFill>
              </a:rPr>
              <a:t>同步复制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394960" y="2596896"/>
            <a:ext cx="1280160" cy="201168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28" name="Text 26"/>
          <p:cNvSpPr/>
          <p:nvPr/>
        </p:nvSpPr>
        <p:spPr>
          <a:xfrm>
            <a:off x="5376672" y="285292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异步复制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94960" y="3584448"/>
            <a:ext cx="1280160" cy="201168"/>
          </a:xfrm>
          <a:prstGeom prst="rightArrow">
            <a:avLst/>
          </a:prstGeom>
          <a:solidFill>
            <a:srgbClr val="9A7230"/>
          </a:solidFill>
          <a:ln/>
        </p:spPr>
      </p:sp>
      <p:sp>
        <p:nvSpPr>
          <p:cNvPr id="30" name="Text 28"/>
          <p:cNvSpPr/>
          <p:nvPr/>
        </p:nvSpPr>
        <p:spPr>
          <a:xfrm>
            <a:off x="5376672" y="3840480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3F10"/>
                </a:solidFill>
              </a:rPr>
              <a:t>CDN 同步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84632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846320"/>
            <a:ext cx="2697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GeoDNS / GSLB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1D2F42"/>
                </a:solidFill>
              </a:rPr>
              <a:t>Global Load Balancer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834640" y="4773168"/>
            <a:ext cx="201168" cy="9144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34" name="Shape 32"/>
          <p:cNvSpPr/>
          <p:nvPr/>
        </p:nvSpPr>
        <p:spPr>
          <a:xfrm>
            <a:off x="9189720" y="4773168"/>
            <a:ext cx="201168" cy="91440"/>
          </a:xfrm>
          <a:prstGeom prst="downArrow">
            <a:avLst/>
          </a:prstGeom>
          <a:solidFill>
            <a:srgbClr val="7A8EA3"/>
          </a:solidFill>
          <a:ln/>
        </p:spPr>
      </p:sp>
      <p:sp>
        <p:nvSpPr>
          <p:cNvPr id="35" name="Shape 33"/>
          <p:cNvSpPr/>
          <p:nvPr/>
        </p:nvSpPr>
        <p:spPr>
          <a:xfrm>
            <a:off x="182880" y="5833872"/>
            <a:ext cx="11795760" cy="658368"/>
          </a:xfrm>
          <a:prstGeom prst="rect">
            <a:avLst/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5943600"/>
            <a:ext cx="11521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3F10"/>
                </a:solidFill>
              </a:rPr>
              <a:t>🎯 RTO &lt; 30秒（自动切换）  ·  RPO &lt; 5秒（同步复制）  ·  多地 CDN 就近访问  ·  灾备 DB 可无损提升为主库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监控与可观测性 — 三大支柱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E6EFF8"/>
          </a:solidFill>
          <a:ln w="15240">
            <a:solidFill>
              <a:srgbClr val="3572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3749040" cy="54864"/>
          </a:xfrm>
          <a:prstGeom prst="roundRect">
            <a:avLst/>
          </a:prstGeom>
          <a:solidFill>
            <a:srgbClr val="3572A0"/>
          </a:solidFill>
          <a:ln/>
        </p:spPr>
      </p:sp>
      <p:sp>
        <p:nvSpPr>
          <p:cNvPr id="7" name="Text 5"/>
          <p:cNvSpPr/>
          <p:nvPr/>
        </p:nvSpPr>
        <p:spPr>
          <a:xfrm>
            <a:off x="40233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D5C"/>
                </a:solidFill>
              </a:rPr>
              <a:t>📊 Metrics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0233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572A0"/>
                </a:solidFill>
              </a:rPr>
              <a:t>Prometheus + Grafana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0233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Evaluation QPS（目标 &gt; 10k/s）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233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Cache hit rate（L1/L2/L3）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0233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Snapshot version lag（&lt; 5min）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0233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P99 延迟（&lt; 5ms）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EBF0F6"/>
          </a:solidFill>
          <a:ln w="15240">
            <a:solidFill>
              <a:srgbClr val="3A56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51960" y="777240"/>
            <a:ext cx="3749040" cy="54864"/>
          </a:xfrm>
          <a:prstGeom prst="roundRect">
            <a:avLst/>
          </a:prstGeom>
          <a:solidFill>
            <a:srgbClr val="3A567A"/>
          </a:solidFill>
          <a:ln/>
        </p:spPr>
      </p:sp>
      <p:sp>
        <p:nvSpPr>
          <p:cNvPr id="15" name="Text 13"/>
          <p:cNvSpPr/>
          <p:nvPr/>
        </p:nvSpPr>
        <p:spPr>
          <a:xfrm>
            <a:off x="437997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F42"/>
                </a:solidFill>
              </a:rPr>
              <a:t>📋 Logs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7997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A567A"/>
                </a:solidFill>
              </a:rPr>
              <a:t>ELK Stack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7997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结构化日志 + TraceId 关联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7997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评估请求日志（flagKey + result）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37997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Snapshot 发布审计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7997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ff_change_event 变更记录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229600" y="7772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F5EDDB"/>
          </a:solidFill>
          <a:ln w="15240">
            <a:solidFill>
              <a:srgbClr val="9A723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777240"/>
            <a:ext cx="3749040" cy="54864"/>
          </a:xfrm>
          <a:prstGeom prst="roundRect">
            <a:avLst/>
          </a:prstGeom>
          <a:solidFill>
            <a:srgbClr val="9A7230"/>
          </a:solidFill>
          <a:ln/>
        </p:spPr>
      </p:sp>
      <p:sp>
        <p:nvSpPr>
          <p:cNvPr id="23" name="Text 21"/>
          <p:cNvSpPr/>
          <p:nvPr/>
        </p:nvSpPr>
        <p:spPr>
          <a:xfrm>
            <a:off x="8357616" y="8686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A3F10"/>
                </a:solidFill>
              </a:rPr>
              <a:t>🔗 Traces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57616" y="12984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7230"/>
                </a:solidFill>
              </a:rPr>
              <a:t>Jaeger / Zipkin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357616" y="1627632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SDK → CDN → L3 → Redis → DB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57616" y="2121408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端到端分布式链路追踪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357616" y="2615184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慢请求火焰图分析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357616" y="3108960"/>
            <a:ext cx="349300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2B3A"/>
                </a:solidFill>
              </a:rPr>
              <a:t>• 跨服务调用依赖图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74320" y="473659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3F55"/>
                </a:solidFill>
              </a:rPr>
              <a:t>关键告警规则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27432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0467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Evaluation 错误率 &gt; 0.1%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25196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2511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36" name="Text 34"/>
          <p:cNvSpPr/>
          <p:nvPr/>
        </p:nvSpPr>
        <p:spPr>
          <a:xfrm>
            <a:off x="432511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78231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Cache miss rate &gt; 20%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229600" y="5084064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302752" y="5138928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0" name="Text 38"/>
          <p:cNvSpPr/>
          <p:nvPr/>
        </p:nvSpPr>
        <p:spPr>
          <a:xfrm>
            <a:off x="8302752" y="5138928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8759952" y="5157216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Snapshot 版本落后 &gt; 5min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27432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4747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44" name="Text 42"/>
          <p:cNvSpPr/>
          <p:nvPr/>
        </p:nvSpPr>
        <p:spPr>
          <a:xfrm>
            <a:off x="34747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0467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DB 主从延迟 &gt; 100ms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25196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5EDDB"/>
          </a:solidFill>
          <a:ln w="11430">
            <a:solidFill>
              <a:srgbClr val="9A723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32511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9A7230"/>
          </a:solidFill>
          <a:ln/>
        </p:spPr>
      </p:sp>
      <p:sp>
        <p:nvSpPr>
          <p:cNvPr id="48" name="Text 46"/>
          <p:cNvSpPr/>
          <p:nvPr/>
        </p:nvSpPr>
        <p:spPr>
          <a:xfrm>
            <a:off x="432511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8231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3F10"/>
                </a:solidFill>
              </a:rPr>
              <a:t>Evaluation P99 &gt; 10ms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229600" y="5559552"/>
            <a:ext cx="3749040" cy="365760"/>
          </a:xfrm>
          <a:prstGeom prst="roundRect">
            <a:avLst>
              <a:gd name="adj" fmla="val 15000"/>
            </a:avLst>
          </a:prstGeom>
          <a:solidFill>
            <a:srgbClr val="F2E8E8"/>
          </a:solidFill>
          <a:ln w="11430">
            <a:solidFill>
              <a:srgbClr val="8A3D3D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02752" y="5614416"/>
            <a:ext cx="384048" cy="256032"/>
          </a:xfrm>
          <a:prstGeom prst="roundRect">
            <a:avLst>
              <a:gd name="adj" fmla="val 25000"/>
            </a:avLst>
          </a:prstGeom>
          <a:solidFill>
            <a:srgbClr val="8A3D3D"/>
          </a:solidFill>
          <a:ln/>
        </p:spPr>
      </p:sp>
      <p:sp>
        <p:nvSpPr>
          <p:cNvPr id="52" name="Text 50"/>
          <p:cNvSpPr/>
          <p:nvPr/>
        </p:nvSpPr>
        <p:spPr>
          <a:xfrm>
            <a:off x="8302752" y="5614416"/>
            <a:ext cx="3840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759952" y="5632704"/>
            <a:ext cx="31455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1A1A"/>
                </a:solidFill>
              </a:rPr>
              <a:t>Redis 连接失败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7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621792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"/>
            <a:ext cx="11430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安全设计 &amp; 数据模型（6张表）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182880" y="749808"/>
            <a:ext cx="539496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749808"/>
            <a:ext cx="5394960" cy="310896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" y="768096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🔒 安全设计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10896" y="11521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0896" y="11521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0" name="Text 8"/>
          <p:cNvSpPr/>
          <p:nvPr/>
        </p:nvSpPr>
        <p:spPr>
          <a:xfrm>
            <a:off x="402336" y="12070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身份认证（管理端）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2336" y="14996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OAuth2 / OIDC，RBAC 权限控制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管理员 / 审批者 / 只读三级角色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0896" y="20665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" y="20665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4" name="Text 12"/>
          <p:cNvSpPr/>
          <p:nvPr/>
        </p:nvSpPr>
        <p:spPr>
          <a:xfrm>
            <a:off x="402336" y="21214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SDK 认证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2336" y="24140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AppKey + 签名认证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Rate Limiting 防刷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0896" y="29809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" y="29809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0358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传输安全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02336" y="33284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全链路 TLS 1.3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敏感字段加密存储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10896" y="38953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10896" y="38953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22" name="Text 20"/>
          <p:cNvSpPr/>
          <p:nvPr/>
        </p:nvSpPr>
        <p:spPr>
          <a:xfrm>
            <a:off x="402336" y="39502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审计日志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2336" y="42428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所有变更写入 ff_change_event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不可删除，支持溯源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10896" y="4809744"/>
            <a:ext cx="5138928" cy="768096"/>
          </a:xfrm>
          <a:prstGeom prst="roundRect">
            <a:avLst>
              <a:gd name="adj" fmla="val 7143"/>
            </a:avLst>
          </a:prstGeom>
          <a:solidFill>
            <a:srgbClr val="F3F5F8"/>
          </a:solidFill>
          <a:ln w="10160">
            <a:solidFill>
              <a:srgbClr val="C8D2D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10896" y="4809744"/>
            <a:ext cx="36576" cy="768096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26" name="Text 24"/>
          <p:cNvSpPr/>
          <p:nvPr/>
        </p:nvSpPr>
        <p:spPr>
          <a:xfrm>
            <a:off x="402336" y="4864608"/>
            <a:ext cx="4919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F42"/>
                </a:solidFill>
              </a:rPr>
              <a:t>🔐 Checksum 完整性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2336" y="5157216"/>
            <a:ext cx="49194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Snapshot SHA-256 校验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B7D93"/>
                </a:solidFill>
              </a:rPr>
              <a:t>SDK 收到后本地验证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943600" y="749808"/>
            <a:ext cx="6035040" cy="5349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2D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749808"/>
            <a:ext cx="6035040" cy="310896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30" name="Text 28"/>
          <p:cNvSpPr/>
          <p:nvPr/>
        </p:nvSpPr>
        <p:spPr>
          <a:xfrm>
            <a:off x="6071616" y="768096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🗄️ 数据模型（6张表）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6080760" y="115214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5EDDB"/>
          </a:solidFill>
          <a:ln w="12700">
            <a:solidFill>
              <a:srgbClr val="9A723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80760" y="1152144"/>
            <a:ext cx="36576" cy="640080"/>
          </a:xfrm>
          <a:prstGeom prst="rect">
            <a:avLst/>
          </a:prstGeom>
          <a:solidFill>
            <a:srgbClr val="9A7230"/>
          </a:solidFill>
          <a:ln/>
        </p:spPr>
      </p:sp>
      <p:sp>
        <p:nvSpPr>
          <p:cNvPr id="33" name="Shape 31"/>
          <p:cNvSpPr/>
          <p:nvPr/>
        </p:nvSpPr>
        <p:spPr>
          <a:xfrm>
            <a:off x="6144768" y="129844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9A7230"/>
          </a:solidFill>
          <a:ln/>
        </p:spPr>
      </p:sp>
      <p:sp>
        <p:nvSpPr>
          <p:cNvPr id="34" name="Text 32"/>
          <p:cNvSpPr/>
          <p:nvPr/>
        </p:nvSpPr>
        <p:spPr>
          <a:xfrm>
            <a:off x="6144768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ff_application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595360" y="13167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3F10"/>
                </a:solidFill>
              </a:rPr>
              <a:t>接入应用注册（appKey / name / owner）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80760" y="1911096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BF0F6"/>
          </a:solidFill>
          <a:ln w="12700">
            <a:solidFill>
              <a:srgbClr val="3A56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80760" y="1911096"/>
            <a:ext cx="36576" cy="640080"/>
          </a:xfrm>
          <a:prstGeom prst="rect">
            <a:avLst/>
          </a:prstGeom>
          <a:solidFill>
            <a:srgbClr val="3A567A"/>
          </a:solidFill>
          <a:ln/>
        </p:spPr>
      </p:sp>
      <p:sp>
        <p:nvSpPr>
          <p:cNvPr id="38" name="Shape 36"/>
          <p:cNvSpPr/>
          <p:nvPr/>
        </p:nvSpPr>
        <p:spPr>
          <a:xfrm>
            <a:off x="6144768" y="2057400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A567A"/>
          </a:solidFill>
          <a:ln/>
        </p:spPr>
      </p:sp>
      <p:sp>
        <p:nvSpPr>
          <p:cNvPr id="39" name="Text 37"/>
          <p:cNvSpPr/>
          <p:nvPr/>
        </p:nvSpPr>
        <p:spPr>
          <a:xfrm>
            <a:off x="6144768" y="2057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8595360" y="207568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D2F42"/>
                </a:solidFill>
              </a:rPr>
              <a:t>Flag 全局定义（跨环境共享，含 releaseKey）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080760" y="2670048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6EFF8"/>
          </a:solidFill>
          <a:ln w="12700">
            <a:solidFill>
              <a:srgbClr val="3572A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80760" y="2670048"/>
            <a:ext cx="36576" cy="64008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3" name="Shape 41"/>
          <p:cNvSpPr/>
          <p:nvPr/>
        </p:nvSpPr>
        <p:spPr>
          <a:xfrm>
            <a:off x="6144768" y="2816352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572A0"/>
          </a:solidFill>
          <a:ln/>
        </p:spPr>
      </p:sp>
      <p:sp>
        <p:nvSpPr>
          <p:cNvPr id="44" name="Text 42"/>
          <p:cNvSpPr/>
          <p:nvPr/>
        </p:nvSpPr>
        <p:spPr>
          <a:xfrm>
            <a:off x="6144768" y="28163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ff_flag_config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595360" y="28346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Flag 在 app+env 下的配置（rollout / enabled）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080760" y="3429000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6EFF8"/>
          </a:solidFill>
          <a:ln w="12700">
            <a:solidFill>
              <a:srgbClr val="3572A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080760" y="3429000"/>
            <a:ext cx="36576" cy="64008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8" name="Shape 46"/>
          <p:cNvSpPr/>
          <p:nvPr/>
        </p:nvSpPr>
        <p:spPr>
          <a:xfrm>
            <a:off x="6144768" y="3575304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572A0"/>
          </a:solidFill>
          <a:ln/>
        </p:spPr>
      </p:sp>
      <p:sp>
        <p:nvSpPr>
          <p:cNvPr id="49" name="Text 47"/>
          <p:cNvSpPr/>
          <p:nvPr/>
        </p:nvSpPr>
        <p:spPr>
          <a:xfrm>
            <a:off x="6144768" y="35753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ff_rule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8595360" y="35935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D5C"/>
                </a:solidFill>
              </a:rPr>
              <a:t>匹配规则（conditionJson + rolloutPercentage）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80760" y="4187952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E5EFEA"/>
          </a:solidFill>
          <a:ln w="12700">
            <a:solidFill>
              <a:srgbClr val="3D6E5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080760" y="4187952"/>
            <a:ext cx="36576" cy="640080"/>
          </a:xfrm>
          <a:prstGeom prst="rect">
            <a:avLst/>
          </a:prstGeom>
          <a:solidFill>
            <a:srgbClr val="3D6E50"/>
          </a:solidFill>
          <a:ln/>
        </p:spPr>
      </p:sp>
      <p:sp>
        <p:nvSpPr>
          <p:cNvPr id="53" name="Shape 51"/>
          <p:cNvSpPr/>
          <p:nvPr/>
        </p:nvSpPr>
        <p:spPr>
          <a:xfrm>
            <a:off x="6144768" y="4334256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3D6E50"/>
          </a:solidFill>
          <a:ln/>
        </p:spPr>
      </p:sp>
      <p:sp>
        <p:nvSpPr>
          <p:cNvPr id="54" name="Text 52"/>
          <p:cNvSpPr/>
          <p:nvPr/>
        </p:nvSpPr>
        <p:spPr>
          <a:xfrm>
            <a:off x="6144768" y="433425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ff_config_snapshot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595360" y="435254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C3E2A"/>
                </a:solidFill>
              </a:rPr>
              <a:t>已发布的不可变快照（version / checksum）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080760" y="4946904"/>
            <a:ext cx="5760720" cy="640080"/>
          </a:xfrm>
          <a:prstGeom prst="roundRect">
            <a:avLst>
              <a:gd name="adj" fmla="val 8571"/>
            </a:avLst>
          </a:prstGeom>
          <a:solidFill>
            <a:srgbClr val="F2E8E8"/>
          </a:solidFill>
          <a:ln w="12700">
            <a:solidFill>
              <a:srgbClr val="8A3D3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80760" y="4946904"/>
            <a:ext cx="36576" cy="640080"/>
          </a:xfrm>
          <a:prstGeom prst="rect">
            <a:avLst/>
          </a:prstGeom>
          <a:solidFill>
            <a:srgbClr val="8A3D3D"/>
          </a:solidFill>
          <a:ln/>
        </p:spPr>
      </p:sp>
      <p:sp>
        <p:nvSpPr>
          <p:cNvPr id="58" name="Shape 56"/>
          <p:cNvSpPr/>
          <p:nvPr/>
        </p:nvSpPr>
        <p:spPr>
          <a:xfrm>
            <a:off x="6144768" y="5093208"/>
            <a:ext cx="2377440" cy="274320"/>
          </a:xfrm>
          <a:prstGeom prst="roundRect">
            <a:avLst>
              <a:gd name="adj" fmla="val 13333"/>
            </a:avLst>
          </a:prstGeom>
          <a:solidFill>
            <a:srgbClr val="8A3D3D"/>
          </a:solidFill>
          <a:ln/>
        </p:spPr>
      </p:sp>
      <p:sp>
        <p:nvSpPr>
          <p:cNvPr id="59" name="Text 57"/>
          <p:cNvSpPr/>
          <p:nvPr/>
        </p:nvSpPr>
        <p:spPr>
          <a:xfrm>
            <a:off x="6144768" y="509320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ff_change_event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595360" y="51114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1A1A"/>
                </a:solidFill>
              </a:rPr>
              <a:t>审计日志（所有变更，不可删除）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B3F55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0"/>
            <a:ext cx="2862072" cy="6858000"/>
          </a:xfrm>
          <a:prstGeom prst="rect">
            <a:avLst/>
          </a:prstGeom>
          <a:solidFill>
            <a:srgbClr val="3572A0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47548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 &amp; 演进方向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115568"/>
            <a:ext cx="539496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12064" y="1188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EC5DE"/>
                </a:solidFill>
              </a:rPr>
              <a:t>核心成果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12064" y="15544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两平面分离，控制面故障不影响评估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2064" y="2084832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Immutable Snapshot + SHA-256 Checksum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12064" y="2615184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5级缓存，热路径 P99 &lt; 5ms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" y="3145536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跨语言哈希分桶，Java / TS 结果一致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12064" y="3675888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环境渐进式升级 + prod Approve 门控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12064" y="42062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RTO &lt; 30s / RPO &lt; 5s 多地容灾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15568"/>
            <a:ext cx="5852160" cy="3749040"/>
          </a:xfrm>
          <a:prstGeom prst="roundRect">
            <a:avLst>
              <a:gd name="adj" fmla="val 2439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4A60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81344" y="11887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B060"/>
                </a:solidFill>
              </a:rPr>
              <a:t>后续演进方向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81344" y="1609344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181344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37960" y="1627632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推送 — Publish 后主动推 SDK，降低拉取延迟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2395728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181344" y="239572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37960" y="2414016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A/B 测试集成 — rollout 分桶基础上增加实验分组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81344" y="3182112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181344" y="318211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537960" y="3200400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SDK 完善 — ETag + 本地持久化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81344" y="3968496"/>
            <a:ext cx="274320" cy="274320"/>
          </a:xfrm>
          <a:prstGeom prst="ellipse">
            <a:avLst/>
          </a:prstGeom>
          <a:solidFill>
            <a:srgbClr val="9A7230">
              <a:alpha val="8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81344" y="39684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537960" y="3986784"/>
            <a:ext cx="52303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自动清理 — Flag 长期未使用自动归档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035040"/>
            <a:ext cx="12192000" cy="822960"/>
          </a:xfrm>
          <a:prstGeom prst="rect">
            <a:avLst/>
          </a:prstGeom>
          <a:solidFill>
            <a:srgbClr val="111C28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6089904"/>
            <a:ext cx="11521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0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Flag Management Service  ·  Spring Boot 3 + Vue 3 + TypeScript SDK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2026-05-20T13:34:24Z</dcterms:created>
  <dcterms:modified xsi:type="dcterms:W3CDTF">2026-05-20T13:34:24Z</dcterms:modified>
</cp:coreProperties>
</file>